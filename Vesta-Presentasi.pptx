
<file path=[Content_Types].xml><?xml version="1.0" encoding="utf-8"?>
<Types xmlns="http://schemas.openxmlformats.org/package/2006/content-types"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Buka dengan pertanyaan: berapa banyak makanan layak yang berakhir di tempat sampah karena tidak terjual tepat waktu? Perkenalkan Vesta dalam satu kalimat: pasar bahan segar yang menjual stok sebelum waktunya habis. Sebutkan bahwa ini prototipe fungsional dan angka demo akan ditandai sepanjang presentasi.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Angka 23–48 juta ton per tahun berasal dari Kajian Bappenas 2021; sebutkan sumbernya. Jelaskan tiga titik masalah: petani, gudang, pembeli. Tekankan masalahnya bukan kualitas, tetapi waktu penjualan.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Jelaskan cascade lima tahap dari segar sampai dibuang. Masing-masing tahap punya ambang skor dan pembeli hanya melihat tahap yang relevan. Jangan masuk ke rumus di slide ini.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Jelaskan alur: input batch, hitung skor, tentukan tahap, sesuaikan harga. Sebutkan suhu masih diisi manual oleh gudang dan IoT menyusul. Jangan mendalami formula kecuali ditanya.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Buka browser dan tunjukkan alur pembeli: katalog, keranjang, checkout, pesanan, sertifikat. Jika demo gagal, kembali ke slide ini. Tekankan tampilan pembeli sengaja sederhana.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Tunjukkan sisi bisnis dan gudang dari data yang sama. Soroti RBAC: setiap peran hanya melihat dan mengubah yang relevan. Batasi sekitar 45 detik.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Bacakan angka sebagai contoh dari ledger demo, bukan traction. Jelaskan singkat cara hitung berat batch dikali faktor emisi. Ulangi bahwa verifikasi pihak ketiga masih di roadmap.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Sebutkan stack inti dan dua kekuatan: RBAC lima peran serta server actions dengan validasi Zod. Sebutkan Midtrans masih sandbox dan WhatsApp menyusul. Pilih dua poin yang paling relevan bagi juri.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Jelaskan tiga sumber pendapatan tanpa angka yang belum divalidasi. Lanjutkan roadmap sekarang, berikutnya, nanti. Akhiri dengan target pilot yang konkret.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Ulangi kalimat kunci, sampaikan ajakan pilot, lalu berhenti. Jangan menambah slide baru atau membaca ulang seluruh presentasi. Buka sesi tanya jawab.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jp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B0CFAA2-22D3-4907-B6AD-56D87FE4B85F}"/>
              </a:ext>
            </a:extLst>
          </p:cNvPr>
          <p:cNvPicPr/>
          <p:nvPr/>
        </p:nvPicPr>
        <p:blipFill>
          <a:blip r:embed="rId2"/>
          <a:srcRect l="25935" r="25935"/>
          <a:stretch>
            <a:fillRect/>
          </a:stretch>
        </p:blipFill>
        <p:spPr>
          <a:xfrm>
            <a:off x="7239000" y="0"/>
            <a:ext cx="4953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C892F98D-496C-494D-B8E3-D7CCAB08C389}"/>
              </a:ext>
            </a:extLst>
          </p:cNvPr>
          <p:cNvSpPr/>
          <p:nvPr/>
        </p:nvSpPr>
        <p:spPr>
          <a:xfrm>
            <a:off x="762000" y="5391150"/>
            <a:ext cx="1905000" cy="32385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 lIns="0" tIns="0" rIns="0" bIns="0" anchor="ctr"/>
          <a:lstStyle/>
          <a:p>
            <a:pPr algn="ctr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Prototipe fungsional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E91E52-1430-45B4-BF1C-A5621FF01FE3}"/>
              </a:ext>
            </a:extLst>
          </p:cNvPr>
          <p:cNvSpPr txBox="1"/>
          <p:nvPr/>
        </p:nvSpPr>
        <p:spPr>
          <a:xfrm>
            <a:off x="762000" y="514350"/>
            <a:ext cx="24765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20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3855B61-1448-407F-91D1-D0A9F71359F7}"/>
              </a:ext>
            </a:extLst>
          </p:cNvPr>
          <p:cNvSpPr txBox="1"/>
          <p:nvPr/>
        </p:nvSpPr>
        <p:spPr>
          <a:xfrm>
            <a:off x="762000" y="142875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FRESHNESS CASCADE PLATFORM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9CA5F41-F4FC-4368-8C03-8E359FEB0FD5}"/>
              </a:ext>
            </a:extLst>
          </p:cNvPr>
          <p:cNvSpPr txBox="1"/>
          <p:nvPr/>
        </p:nvSpPr>
        <p:spPr>
          <a:xfrm>
            <a:off x="762000" y="1828800"/>
            <a:ext cx="5810250" cy="2095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1C1C1A"/>
                </a:solidFill>
                <a:latin typeface="Arial"/>
                <a:ea typeface="Arial"/>
              </a:rPr>
              <a:t>Jual sebelum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1C1C1A"/>
                </a:solidFill>
                <a:latin typeface="Arial"/>
                <a:ea typeface="Arial"/>
              </a:rPr>
              <a:t>terbuang.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86C89B-E441-46B9-8876-15FCFEF3EC98}"/>
              </a:ext>
            </a:extLst>
          </p:cNvPr>
          <p:cNvSpPr txBox="1"/>
          <p:nvPr/>
        </p:nvSpPr>
        <p:spPr>
          <a:xfrm>
            <a:off x="762000" y="4191000"/>
            <a:ext cx="5715000" cy="952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55554D"/>
                </a:solidFill>
                <a:latin typeface="Arial"/>
                <a:ea typeface="Arial"/>
              </a:rPr>
              <a:t>Pasar bahan segar yang menjual stok sebelum waktunya habis — dari produsen, lewat gudang, sampai dapur.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96245B-CAF9-4E89-B968-3089830E7539}"/>
              </a:ext>
            </a:extLst>
          </p:cNvPr>
          <p:cNvSpPr txBox="1"/>
          <p:nvPr/>
        </p:nvSpPr>
        <p:spPr>
          <a:xfrm>
            <a:off x="762000" y="5905500"/>
            <a:ext cx="47625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6B6B63"/>
                </a:solidFill>
                <a:latin typeface="Arial"/>
                <a:ea typeface="Arial"/>
              </a:rPr>
              <a:t>UNIC Web Development · 2026 · Data demo ditandai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0F4E39C-D0BD-4CEC-ADA5-366D7EDE78DC}"/>
              </a:ext>
            </a:extLst>
          </p:cNvPr>
          <p:cNvSpPr/>
          <p:nvPr/>
        </p:nvSpPr>
        <p:spPr>
          <a:xfrm>
            <a:off x="6858000" y="1428750"/>
            <a:ext cx="4572000" cy="323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6FA4CF5-E7B6-4006-BDE1-024BA9148262}"/>
              </a:ext>
            </a:extLst>
          </p:cNvPr>
          <p:cNvSpPr/>
          <p:nvPr/>
        </p:nvSpPr>
        <p:spPr>
          <a:xfrm>
            <a:off x="762000" y="5219700"/>
            <a:ext cx="10668000" cy="95250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980157B-363E-4472-BEE8-9D7B90CE83EE}"/>
              </a:ext>
            </a:extLst>
          </p:cNvPr>
          <p:cNvSpPr/>
          <p:nvPr/>
        </p:nvSpPr>
        <p:spPr>
          <a:xfrm>
            <a:off x="7162800" y="2762250"/>
            <a:ext cx="3962400" cy="9525"/>
          </a:xfrm>
          <a:prstGeom prst="rect">
            <a:avLst/>
          </a:prstGeom>
          <a:solidFill>
            <a:srgbClr val="E4E0D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1A74A7A-DB6E-4516-B8D6-7E21840A3179}"/>
              </a:ext>
            </a:extLst>
          </p:cNvPr>
          <p:cNvSpPr/>
          <p:nvPr/>
        </p:nvSpPr>
        <p:spPr>
          <a:xfrm>
            <a:off x="7162800" y="3571875"/>
            <a:ext cx="3962400" cy="9525"/>
          </a:xfrm>
          <a:prstGeom prst="rect">
            <a:avLst/>
          </a:prstGeom>
          <a:solidFill>
            <a:srgbClr val="E4E0D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F529284-A6B2-4143-9CF2-2FC78DED64D5}"/>
              </a:ext>
            </a:extLst>
          </p:cNvPr>
          <p:cNvSpPr txBox="1"/>
          <p:nvPr/>
        </p:nvSpPr>
        <p:spPr>
          <a:xfrm>
            <a:off x="7620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67B7EED-8035-4642-A0CC-33D7FDD89D38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MASALAH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F1CCD28-9806-4421-B65E-90FBFDCA43BD}"/>
              </a:ext>
            </a:extLst>
          </p:cNvPr>
          <p:cNvSpPr txBox="1"/>
          <p:nvPr/>
        </p:nvSpPr>
        <p:spPr>
          <a:xfrm>
            <a:off x="762000" y="1524000"/>
            <a:ext cx="5905500" cy="1333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C1C1A"/>
                </a:solidFill>
                <a:latin typeface="Arial"/>
                <a:ea typeface="Arial"/>
              </a:rPr>
              <a:t>Makanan terbuang di ujung rantai.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E19947-22AB-4446-801B-45DD0CABC700}"/>
              </a:ext>
            </a:extLst>
          </p:cNvPr>
          <p:cNvSpPr txBox="1"/>
          <p:nvPr/>
        </p:nvSpPr>
        <p:spPr>
          <a:xfrm>
            <a:off x="762000" y="3000375"/>
            <a:ext cx="5715000" cy="1143000"/>
          </a:xfrm>
        </p:spPr>
        <p:txBody>
          <a:bodyPr wrap="square" rtlCol="0" lIns="0" tIns="0" rIns="0" bIns="0" anchor="t"/>
          <a:lstStyle/>
          <a:p>
            <a:pPr algn="l"/>
            <a:r>
              <a:rPr sz="6400" b="1">
                <a:solidFill>
                  <a:srgbClr val="1E5B3C"/>
                </a:solidFill>
                <a:latin typeface="Arial"/>
                <a:ea typeface="Arial"/>
              </a:rPr>
              <a:t>23–48</a:t>
            </a:r>
            <a:r>
              <a:rPr sz="2600" b="1">
                <a:solidFill>
                  <a:srgbClr val="1E5B3C"/>
                </a:solidFill>
                <a:latin typeface="Arial"/>
                <a:ea typeface="Arial"/>
              </a:rPr>
              <a:t> juta ton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0079304-9265-46D5-A54D-774F0ED7F660}"/>
              </a:ext>
            </a:extLst>
          </p:cNvPr>
          <p:cNvSpPr txBox="1"/>
          <p:nvPr/>
        </p:nvSpPr>
        <p:spPr>
          <a:xfrm>
            <a:off x="762000" y="4191000"/>
            <a:ext cx="53340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>
                <a:solidFill>
                  <a:srgbClr val="55554D"/>
                </a:solidFill>
                <a:latin typeface="Arial"/>
                <a:ea typeface="Arial"/>
              </a:rPr>
              <a:t>makanan hilang atau terbuang setiap tahun di Indonesia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901348D-3B58-4E68-81DE-6A5B60826AF4}"/>
              </a:ext>
            </a:extLst>
          </p:cNvPr>
          <p:cNvSpPr txBox="1"/>
          <p:nvPr/>
        </p:nvSpPr>
        <p:spPr>
          <a:xfrm>
            <a:off x="762000" y="476250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Sumber: Kajian Bappenas, 2021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8A8D039-D33F-44A3-B963-486126F2038F}"/>
              </a:ext>
            </a:extLst>
          </p:cNvPr>
          <p:cNvSpPr txBox="1"/>
          <p:nvPr/>
        </p:nvSpPr>
        <p:spPr>
          <a:xfrm>
            <a:off x="7162800" y="1733550"/>
            <a:ext cx="285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B6B63"/>
                </a:solidFill>
                <a:latin typeface="Arial"/>
                <a:ea typeface="Arial"/>
              </a:rPr>
              <a:t>RANTAI HARI INI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069362A-B3B4-41F0-90DD-B92B653298EC}"/>
              </a:ext>
            </a:extLst>
          </p:cNvPr>
          <p:cNvSpPr txBox="1"/>
          <p:nvPr/>
        </p:nvSpPr>
        <p:spPr>
          <a:xfrm>
            <a:off x="7162800" y="2095500"/>
            <a:ext cx="381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6353CC1-CDB4-4F43-9AA2-85DC185D47AD}"/>
              </a:ext>
            </a:extLst>
          </p:cNvPr>
          <p:cNvSpPr txBox="1"/>
          <p:nvPr/>
        </p:nvSpPr>
        <p:spPr>
          <a:xfrm>
            <a:off x="7543800" y="2047875"/>
            <a:ext cx="3238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C1C1A"/>
                </a:solidFill>
                <a:latin typeface="Arial"/>
                <a:ea typeface="Arial"/>
              </a:rPr>
              <a:t>Petani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1F200D9-9D45-471B-8956-4DA90A861AC9}"/>
              </a:ext>
            </a:extLst>
          </p:cNvPr>
          <p:cNvSpPr txBox="1"/>
          <p:nvPr/>
        </p:nvSpPr>
        <p:spPr>
          <a:xfrm>
            <a:off x="7543800" y="2333625"/>
            <a:ext cx="3429000" cy="38557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6B6B63"/>
                </a:solidFill>
                <a:latin typeface="Arial"/>
                <a:ea typeface="Arial"/>
              </a:rPr>
              <a:t>Panen melimpah, tapi tidak ada yang membeli tepat waktu.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646759D-06F3-432C-984E-8C307C15DAD8}"/>
              </a:ext>
            </a:extLst>
          </p:cNvPr>
          <p:cNvSpPr txBox="1"/>
          <p:nvPr/>
        </p:nvSpPr>
        <p:spPr>
          <a:xfrm>
            <a:off x="7162800" y="2905125"/>
            <a:ext cx="381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4D271FE-A88B-4E2C-9E78-A8605110BFBB}"/>
              </a:ext>
            </a:extLst>
          </p:cNvPr>
          <p:cNvSpPr txBox="1"/>
          <p:nvPr/>
        </p:nvSpPr>
        <p:spPr>
          <a:xfrm>
            <a:off x="7543800" y="2857500"/>
            <a:ext cx="3238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C1C1A"/>
                </a:solidFill>
                <a:latin typeface="Arial"/>
                <a:ea typeface="Arial"/>
              </a:rPr>
              <a:t>Gudang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0783DB0-5476-43A4-AF47-69BF083D4169}"/>
              </a:ext>
            </a:extLst>
          </p:cNvPr>
          <p:cNvSpPr txBox="1"/>
          <p:nvPr/>
        </p:nvSpPr>
        <p:spPr>
          <a:xfrm>
            <a:off x="7543800" y="3143250"/>
            <a:ext cx="3429000" cy="38557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6B6B63"/>
                </a:solidFill>
                <a:latin typeface="Arial"/>
                <a:ea typeface="Arial"/>
              </a:rPr>
              <a:t>Stok menumpuk; kualitas turun sebelum sempat terjual.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902D51B-87EC-422D-9D47-278E7275FFD8}"/>
              </a:ext>
            </a:extLst>
          </p:cNvPr>
          <p:cNvSpPr txBox="1"/>
          <p:nvPr/>
        </p:nvSpPr>
        <p:spPr>
          <a:xfrm>
            <a:off x="7162800" y="3714750"/>
            <a:ext cx="381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56790CD-03D5-490E-AEC5-596D19D9A744}"/>
              </a:ext>
            </a:extLst>
          </p:cNvPr>
          <p:cNvSpPr txBox="1"/>
          <p:nvPr/>
        </p:nvSpPr>
        <p:spPr>
          <a:xfrm>
            <a:off x="7543800" y="3667125"/>
            <a:ext cx="3238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1C1C1A"/>
                </a:solidFill>
                <a:latin typeface="Arial"/>
                <a:ea typeface="Arial"/>
              </a:rPr>
              <a:t>Pembeli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189CAFF-CDBF-4A1A-887E-E913C1E34A5A}"/>
              </a:ext>
            </a:extLst>
          </p:cNvPr>
          <p:cNvSpPr txBox="1"/>
          <p:nvPr/>
        </p:nvSpPr>
        <p:spPr>
          <a:xfrm>
            <a:off x="7543800" y="3952875"/>
            <a:ext cx="3429000" cy="38557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6B6B63"/>
                </a:solidFill>
                <a:latin typeface="Arial"/>
                <a:ea typeface="Arial"/>
              </a:rPr>
              <a:t>Tidak pernah tahu ada stok layak dengan harga lebih baik.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988F043-22CA-410A-A9B4-EF7D3116065D}"/>
              </a:ext>
            </a:extLst>
          </p:cNvPr>
          <p:cNvSpPr txBox="1"/>
          <p:nvPr/>
        </p:nvSpPr>
        <p:spPr>
          <a:xfrm>
            <a:off x="1066800" y="5429250"/>
            <a:ext cx="10001250" cy="533400"/>
          </a:xfrm>
        </p:spPr>
        <p:txBody>
          <a:bodyPr wrap="square" rtlCol="0" lIns="0" tIns="0" rIns="0" bIns="0" anchor="ctr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8A4B00"/>
                </a:solidFill>
                <a:latin typeface="Arial"/>
                <a:ea typeface="Arial"/>
              </a:rPr>
              <a:t>Bukan karena makanannya rusak — tapi karena tidak ada yang menjualnya tepat waktu.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3568990-89A2-41DC-8A75-3B5D630B625D}"/>
              </a:ext>
            </a:extLst>
          </p:cNvPr>
          <p:cNvSpPr txBox="1"/>
          <p:nvPr/>
        </p:nvSpPr>
        <p:spPr>
          <a:xfrm>
            <a:off x="10668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F5C55B8-CAE6-4372-8F7A-1C0CC76B66C7}"/>
              </a:ext>
            </a:extLst>
          </p:cNvPr>
          <p:cNvSpPr/>
          <p:nvPr/>
        </p:nvSpPr>
        <p:spPr>
          <a:xfrm>
            <a:off x="762000" y="2857500"/>
            <a:ext cx="19431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EAA8EEF-24ED-4C67-9613-17CDBFBC6A8D}"/>
              </a:ext>
            </a:extLst>
          </p:cNvPr>
          <p:cNvSpPr/>
          <p:nvPr/>
        </p:nvSpPr>
        <p:spPr>
          <a:xfrm>
            <a:off x="2943225" y="2857500"/>
            <a:ext cx="19431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61C7880-C6EE-489C-83F1-EDA2A78BA77F}"/>
              </a:ext>
            </a:extLst>
          </p:cNvPr>
          <p:cNvSpPr/>
          <p:nvPr/>
        </p:nvSpPr>
        <p:spPr>
          <a:xfrm>
            <a:off x="5124450" y="2857500"/>
            <a:ext cx="19431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A4A6066-4BCE-4A19-8AA3-93A74C191C43}"/>
              </a:ext>
            </a:extLst>
          </p:cNvPr>
          <p:cNvSpPr/>
          <p:nvPr/>
        </p:nvSpPr>
        <p:spPr>
          <a:xfrm>
            <a:off x="7305675" y="2857500"/>
            <a:ext cx="19431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8079E3E-B3D6-4B8A-B381-7BFF7F510AE9}"/>
              </a:ext>
            </a:extLst>
          </p:cNvPr>
          <p:cNvSpPr/>
          <p:nvPr/>
        </p:nvSpPr>
        <p:spPr>
          <a:xfrm>
            <a:off x="9486900" y="2857500"/>
            <a:ext cx="1943100" cy="2476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28595AA-2143-45C7-8760-29BFF01CAD66}"/>
              </a:ext>
            </a:extLst>
          </p:cNvPr>
          <p:cNvSpPr/>
          <p:nvPr/>
        </p:nvSpPr>
        <p:spPr>
          <a:xfrm>
            <a:off x="952500" y="3409950"/>
            <a:ext cx="914400" cy="228600"/>
          </a:xfrm>
          <a:prstGeom prst="roundRect">
            <a:avLst/>
          </a:prstGeom>
          <a:solidFill>
            <a:srgbClr val="E8F1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1E5B3C"/>
                </a:solidFill>
                <a:latin typeface="Arial"/>
                <a:ea typeface="Arial"/>
              </a:rPr>
              <a:t>Skor ≥ 70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F60ACAC-0627-4479-A657-EF2BC101729C}"/>
              </a:ext>
            </a:extLst>
          </p:cNvPr>
          <p:cNvSpPr/>
          <p:nvPr/>
        </p:nvSpPr>
        <p:spPr>
          <a:xfrm>
            <a:off x="3133725" y="3409950"/>
            <a:ext cx="914400" cy="22860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B45309"/>
                </a:solidFill>
                <a:latin typeface="Arial"/>
                <a:ea typeface="Arial"/>
              </a:rPr>
              <a:t>Skor &lt; 70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80E8181-B8FE-4F3D-B54F-28F2E485C6BE}"/>
              </a:ext>
            </a:extLst>
          </p:cNvPr>
          <p:cNvSpPr/>
          <p:nvPr/>
        </p:nvSpPr>
        <p:spPr>
          <a:xfrm>
            <a:off x="5314950" y="3409950"/>
            <a:ext cx="914400" cy="22860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B45309"/>
                </a:solidFill>
                <a:latin typeface="Arial"/>
                <a:ea typeface="Arial"/>
              </a:rPr>
              <a:t>Skor &lt; 30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F89E994-3809-4767-91BA-9DA9E771FA55}"/>
              </a:ext>
            </a:extLst>
          </p:cNvPr>
          <p:cNvSpPr/>
          <p:nvPr/>
        </p:nvSpPr>
        <p:spPr>
          <a:xfrm>
            <a:off x="7496175" y="3409950"/>
            <a:ext cx="914400" cy="22860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B45309"/>
                </a:solidFill>
                <a:latin typeface="Arial"/>
                <a:ea typeface="Arial"/>
              </a:rPr>
              <a:t>Skor &lt; 10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FACA2F76-141E-4412-9CBE-EA5BBD4FB9DC}"/>
              </a:ext>
            </a:extLst>
          </p:cNvPr>
          <p:cNvSpPr/>
          <p:nvPr/>
        </p:nvSpPr>
        <p:spPr>
          <a:xfrm>
            <a:off x="9677400" y="3409950"/>
            <a:ext cx="914400" cy="228600"/>
          </a:xfrm>
          <a:prstGeom prst="roundRect">
            <a:avLst/>
          </a:prstGeom>
          <a:solidFill>
            <a:srgbClr val="F2F0EA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6B6B63"/>
                </a:solidFill>
                <a:latin typeface="Arial"/>
                <a:ea typeface="Arial"/>
              </a:rPr>
              <a:t>Skor 0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5C3EB2C-2605-496D-AA89-FC9FB7066923}"/>
              </a:ext>
            </a:extLst>
          </p:cNvPr>
          <p:cNvSpPr/>
          <p:nvPr/>
        </p:nvSpPr>
        <p:spPr>
          <a:xfrm>
            <a:off x="762000" y="5619750"/>
            <a:ext cx="10668000" cy="43815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24B5130-EBCC-4422-BC33-11362FACF302}"/>
              </a:ext>
            </a:extLst>
          </p:cNvPr>
          <p:cNvSpPr txBox="1"/>
          <p:nvPr/>
        </p:nvSpPr>
        <p:spPr>
          <a:xfrm>
            <a:off x="7620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CFE72F9-469D-421C-91CD-A43C21EAF13E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SOLUSI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27B73C1D-0387-4E3F-8A59-74E1074AB90F}"/>
              </a:ext>
            </a:extLst>
          </p:cNvPr>
          <p:cNvSpPr txBox="1"/>
          <p:nvPr/>
        </p:nvSpPr>
        <p:spPr>
          <a:xfrm>
            <a:off x="762000" y="1504950"/>
            <a:ext cx="10668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C1C1A"/>
                </a:solidFill>
                <a:latin typeface="Arial"/>
                <a:ea typeface="Arial"/>
              </a:rPr>
              <a:t>Setiap stok punya jalur sebelum dibuang.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B4160B6-98B7-4A59-A39E-C3CC6CFEB626}"/>
              </a:ext>
            </a:extLst>
          </p:cNvPr>
          <p:cNvSpPr txBox="1"/>
          <p:nvPr/>
        </p:nvSpPr>
        <p:spPr>
          <a:xfrm>
            <a:off x="762000" y="2286000"/>
            <a:ext cx="9906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5554D"/>
                </a:solidFill>
                <a:latin typeface="Arial"/>
                <a:ea typeface="Arial"/>
              </a:rPr>
              <a:t>Lima tahap cascade, satu keputusan: jangan biarkan makanan berakhir di tempat sampah.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B950CDA-6F48-4CF0-9566-90E428154147}"/>
              </a:ext>
            </a:extLst>
          </p:cNvPr>
          <p:cNvSpPr txBox="1"/>
          <p:nvPr/>
        </p:nvSpPr>
        <p:spPr>
          <a:xfrm>
            <a:off x="952500" y="31051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5EAFFE2-A52C-47EE-9023-F15369C4E596}"/>
              </a:ext>
            </a:extLst>
          </p:cNvPr>
          <p:cNvSpPr txBox="1"/>
          <p:nvPr/>
        </p:nvSpPr>
        <p:spPr>
          <a:xfrm>
            <a:off x="3133725" y="31051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8666B58-C723-42D6-B34D-7A4A1DA1F391}"/>
              </a:ext>
            </a:extLst>
          </p:cNvPr>
          <p:cNvSpPr txBox="1"/>
          <p:nvPr/>
        </p:nvSpPr>
        <p:spPr>
          <a:xfrm>
            <a:off x="5314950" y="31051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B7F7F66-6BDB-40F9-997E-89719D3C8777}"/>
              </a:ext>
            </a:extLst>
          </p:cNvPr>
          <p:cNvSpPr txBox="1"/>
          <p:nvPr/>
        </p:nvSpPr>
        <p:spPr>
          <a:xfrm>
            <a:off x="7496175" y="31051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6387219-AB60-47CE-8FA6-B56A5B646BF9}"/>
              </a:ext>
            </a:extLst>
          </p:cNvPr>
          <p:cNvSpPr txBox="1"/>
          <p:nvPr/>
        </p:nvSpPr>
        <p:spPr>
          <a:xfrm>
            <a:off x="9677400" y="31051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05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6877700-9391-4CEA-89D7-0303AF8835A3}"/>
              </a:ext>
            </a:extLst>
          </p:cNvPr>
          <p:cNvSpPr txBox="1"/>
          <p:nvPr/>
        </p:nvSpPr>
        <p:spPr>
          <a:xfrm>
            <a:off x="952500" y="3810000"/>
            <a:ext cx="1562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1C1C1A"/>
                </a:solidFill>
                <a:latin typeface="Arial"/>
                <a:ea typeface="Arial"/>
              </a:rPr>
              <a:t>Segar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B04D2EE-A5C3-45E7-87FB-6BA46590BA3D}"/>
              </a:ext>
            </a:extLst>
          </p:cNvPr>
          <p:cNvSpPr txBox="1"/>
          <p:nvPr/>
        </p:nvSpPr>
        <p:spPr>
          <a:xfrm>
            <a:off x="3133725" y="3810000"/>
            <a:ext cx="1562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1C1C1A"/>
                </a:solidFill>
                <a:latin typeface="Arial"/>
                <a:ea typeface="Arial"/>
              </a:rPr>
              <a:t>Diskon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848D3F0-500B-45DF-BAE6-CA2F538FB313}"/>
              </a:ext>
            </a:extLst>
          </p:cNvPr>
          <p:cNvSpPr txBox="1"/>
          <p:nvPr/>
        </p:nvSpPr>
        <p:spPr>
          <a:xfrm>
            <a:off x="5314950" y="3810000"/>
            <a:ext cx="1562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1C1C1A"/>
                </a:solidFill>
                <a:latin typeface="Arial"/>
                <a:ea typeface="Arial"/>
              </a:rPr>
              <a:t>Pakan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9437CFA-9A8B-4B74-94D6-EC946811A118}"/>
              </a:ext>
            </a:extLst>
          </p:cNvPr>
          <p:cNvSpPr txBox="1"/>
          <p:nvPr/>
        </p:nvSpPr>
        <p:spPr>
          <a:xfrm>
            <a:off x="7496175" y="3810000"/>
            <a:ext cx="1562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1C1C1A"/>
                </a:solidFill>
                <a:latin typeface="Arial"/>
                <a:ea typeface="Arial"/>
              </a:rPr>
              <a:t>Residu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B520376-49AD-48D6-968A-791DCE9E3145}"/>
              </a:ext>
            </a:extLst>
          </p:cNvPr>
          <p:cNvSpPr txBox="1"/>
          <p:nvPr/>
        </p:nvSpPr>
        <p:spPr>
          <a:xfrm>
            <a:off x="9677400" y="3810000"/>
            <a:ext cx="1562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900" b="1">
                <a:solidFill>
                  <a:srgbClr val="1C1C1A"/>
                </a:solidFill>
                <a:latin typeface="Arial"/>
                <a:ea typeface="Arial"/>
              </a:rPr>
              <a:t>Dibuang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20A6C03-317A-46F4-B732-32D4660E93EF}"/>
              </a:ext>
            </a:extLst>
          </p:cNvPr>
          <p:cNvSpPr txBox="1"/>
          <p:nvPr/>
        </p:nvSpPr>
        <p:spPr>
          <a:xfrm>
            <a:off x="952500" y="4210050"/>
            <a:ext cx="15621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B6B63"/>
                </a:solidFill>
                <a:latin typeface="Arial"/>
                <a:ea typeface="Arial"/>
              </a:rPr>
              <a:t>Harga normal, tampil di katalog utama.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46CCFF5-8108-4EA6-95A3-97477F4ED5AE}"/>
              </a:ext>
            </a:extLst>
          </p:cNvPr>
          <p:cNvSpPr txBox="1"/>
          <p:nvPr/>
        </p:nvSpPr>
        <p:spPr>
          <a:xfrm>
            <a:off x="3133725" y="4210050"/>
            <a:ext cx="15621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B6B63"/>
                </a:solidFill>
                <a:latin typeface="Arial"/>
                <a:ea typeface="Arial"/>
              </a:rPr>
              <a:t>Harga turun; pembeli melihat penghematan.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A48BEB7-1145-45E2-A6D1-745522D23257}"/>
              </a:ext>
            </a:extLst>
          </p:cNvPr>
          <p:cNvSpPr txBox="1"/>
          <p:nvPr/>
        </p:nvSpPr>
        <p:spPr>
          <a:xfrm>
            <a:off x="5314950" y="4210050"/>
            <a:ext cx="15621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B6B63"/>
                </a:solidFill>
                <a:latin typeface="Arial"/>
                <a:ea typeface="Arial"/>
              </a:rPr>
              <a:t>Dialihkan ke pakan ternak, bukan konsumsi manusia.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A4B0942-72C9-4682-BE8E-5B55E89155BA}"/>
              </a:ext>
            </a:extLst>
          </p:cNvPr>
          <p:cNvSpPr txBox="1"/>
          <p:nvPr/>
        </p:nvSpPr>
        <p:spPr>
          <a:xfrm>
            <a:off x="7496175" y="4210050"/>
            <a:ext cx="15621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B6B63"/>
                </a:solidFill>
                <a:latin typeface="Arial"/>
                <a:ea typeface="Arial"/>
              </a:rPr>
              <a:t>Diolah menjadi kompos atau biogas.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096ECCA1-4EFD-4DB6-B9C7-BF59F3F5716F}"/>
              </a:ext>
            </a:extLst>
          </p:cNvPr>
          <p:cNvSpPr txBox="1"/>
          <p:nvPr/>
        </p:nvSpPr>
        <p:spPr>
          <a:xfrm>
            <a:off x="9677400" y="4210050"/>
            <a:ext cx="15621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B6B63"/>
                </a:solidFill>
                <a:latin typeface="Arial"/>
                <a:ea typeface="Arial"/>
              </a:rPr>
              <a:t>Tidak terjual dan dicatat sebagai kehilangan.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443BF72-42F7-40D5-B514-314FD8078A8A}"/>
              </a:ext>
            </a:extLst>
          </p:cNvPr>
          <p:cNvSpPr txBox="1"/>
          <p:nvPr/>
        </p:nvSpPr>
        <p:spPr>
          <a:xfrm>
            <a:off x="1066800" y="5734050"/>
            <a:ext cx="10058400" cy="209550"/>
          </a:xfrm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8A4B00"/>
                </a:solidFill>
                <a:latin typeface="Arial"/>
                <a:ea typeface="Arial"/>
              </a:rPr>
              <a:t>Pembeli hanya melihat tahap yang relevan — tanpa skor kesegaran dan tanpa hitung mundur.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153B3565-5DD0-4B51-8125-5070FC42B47C}"/>
              </a:ext>
            </a:extLst>
          </p:cNvPr>
          <p:cNvSpPr txBox="1"/>
          <p:nvPr/>
        </p:nvSpPr>
        <p:spPr>
          <a:xfrm>
            <a:off x="10668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FE429FC-0795-4CA9-854E-3D7D722899D0}"/>
              </a:ext>
            </a:extLst>
          </p:cNvPr>
          <p:cNvSpPr/>
          <p:nvPr/>
        </p:nvSpPr>
        <p:spPr>
          <a:xfrm>
            <a:off x="6858000" y="1428750"/>
            <a:ext cx="4572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2084251-EAE6-422A-A30B-99F4E85A48DB}"/>
              </a:ext>
            </a:extLst>
          </p:cNvPr>
          <p:cNvSpPr/>
          <p:nvPr/>
        </p:nvSpPr>
        <p:spPr>
          <a:xfrm>
            <a:off x="7162800" y="1981200"/>
            <a:ext cx="1905000" cy="419100"/>
          </a:xfrm>
          <a:prstGeom prst="roundRect">
            <a:avLst/>
          </a:prstGeom>
          <a:solidFill>
            <a:srgbClr val="FAF8F3"/>
          </a:solidFill>
          <a:ln w="12700">
            <a:solidFill>
              <a:srgbClr val="E4E0D6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150">
                <a:solidFill>
                  <a:srgbClr val="1C1C1A"/>
                </a:solidFill>
                <a:latin typeface="Arial"/>
                <a:ea typeface="Arial"/>
              </a:rPr>
              <a:t>Tanggal panen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73D327B-AA8D-4801-8B88-8089BAE2E305}"/>
              </a:ext>
            </a:extLst>
          </p:cNvPr>
          <p:cNvSpPr/>
          <p:nvPr/>
        </p:nvSpPr>
        <p:spPr>
          <a:xfrm>
            <a:off x="9220200" y="1981200"/>
            <a:ext cx="1905000" cy="419100"/>
          </a:xfrm>
          <a:prstGeom prst="roundRect">
            <a:avLst/>
          </a:prstGeom>
          <a:solidFill>
            <a:srgbClr val="FAF8F3"/>
          </a:solidFill>
          <a:ln w="12700">
            <a:solidFill>
              <a:srgbClr val="E4E0D6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150">
                <a:solidFill>
                  <a:srgbClr val="1C1C1A"/>
                </a:solidFill>
                <a:latin typeface="Arial"/>
                <a:ea typeface="Arial"/>
              </a:rPr>
              <a:t>Suhu gudang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2E3A4FD-E6E6-4D3B-BDF6-D1DE3C1BD886}"/>
              </a:ext>
            </a:extLst>
          </p:cNvPr>
          <p:cNvSpPr/>
          <p:nvPr/>
        </p:nvSpPr>
        <p:spPr>
          <a:xfrm>
            <a:off x="7162800" y="2495550"/>
            <a:ext cx="1905000" cy="419100"/>
          </a:xfrm>
          <a:prstGeom prst="roundRect">
            <a:avLst/>
          </a:prstGeom>
          <a:solidFill>
            <a:srgbClr val="FAF8F3"/>
          </a:solidFill>
          <a:ln w="12700">
            <a:solidFill>
              <a:srgbClr val="E4E0D6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150">
                <a:solidFill>
                  <a:srgbClr val="1C1C1A"/>
                </a:solidFill>
                <a:latin typeface="Arial"/>
                <a:ea typeface="Arial"/>
              </a:rPr>
              <a:t>Waktu simpan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31BAF46-7801-4C4B-9151-020C637DD9E7}"/>
              </a:ext>
            </a:extLst>
          </p:cNvPr>
          <p:cNvSpPr/>
          <p:nvPr/>
        </p:nvSpPr>
        <p:spPr>
          <a:xfrm>
            <a:off x="9220200" y="2495550"/>
            <a:ext cx="1905000" cy="419100"/>
          </a:xfrm>
          <a:prstGeom prst="roundRect">
            <a:avLst/>
          </a:prstGeom>
          <a:solidFill>
            <a:srgbClr val="FAF8F3"/>
          </a:solidFill>
          <a:ln w="12700">
            <a:solidFill>
              <a:srgbClr val="E4E0D6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150">
                <a:solidFill>
                  <a:srgbClr val="1C1C1A"/>
                </a:solidFill>
                <a:latin typeface="Arial"/>
                <a:ea typeface="Arial"/>
              </a:rPr>
              <a:t>Waktu kirim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4F7B274-9A7F-4C50-8C3C-46657C25DE53}"/>
              </a:ext>
            </a:extLst>
          </p:cNvPr>
          <p:cNvSpPr/>
          <p:nvPr/>
        </p:nvSpPr>
        <p:spPr>
          <a:xfrm>
            <a:off x="8991600" y="3028950"/>
            <a:ext cx="304800" cy="304800"/>
          </a:xfrm>
          <a:prstGeom prst="downArrow">
            <a:avLst/>
          </a:prstGeom>
          <a:solidFill>
            <a:srgbClr val="FF99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09485DF-88AD-42B1-AE49-E91541148558}"/>
              </a:ext>
            </a:extLst>
          </p:cNvPr>
          <p:cNvSpPr/>
          <p:nvPr/>
        </p:nvSpPr>
        <p:spPr>
          <a:xfrm>
            <a:off x="7162800" y="3448050"/>
            <a:ext cx="3962400" cy="914400"/>
          </a:xfrm>
          <a:prstGeom prst="roundRect">
            <a:avLst/>
          </a:prstGeom>
          <a:solidFill>
            <a:srgbClr val="E8F1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C7625A8-8721-42FC-8444-54126ABCAD25}"/>
              </a:ext>
            </a:extLst>
          </p:cNvPr>
          <p:cNvSpPr/>
          <p:nvPr/>
        </p:nvSpPr>
        <p:spPr>
          <a:xfrm>
            <a:off x="8991600" y="4476750"/>
            <a:ext cx="304800" cy="304800"/>
          </a:xfrm>
          <a:prstGeom prst="downArrow">
            <a:avLst/>
          </a:prstGeom>
          <a:solidFill>
            <a:srgbClr val="FF99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F5F7A57-0B76-4AFC-8A8C-9840C4DD47F8}"/>
              </a:ext>
            </a:extLst>
          </p:cNvPr>
          <p:cNvSpPr/>
          <p:nvPr/>
        </p:nvSpPr>
        <p:spPr>
          <a:xfrm>
            <a:off x="7162800" y="4895850"/>
            <a:ext cx="3962400" cy="91440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4EFC1F7-DEFD-4534-8D72-B3815190F2C6}"/>
              </a:ext>
            </a:extLst>
          </p:cNvPr>
          <p:cNvSpPr txBox="1"/>
          <p:nvPr/>
        </p:nvSpPr>
        <p:spPr>
          <a:xfrm>
            <a:off x="7620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3A79819-D163-4BB6-8E41-A3C513FD7E78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CARA KERJA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D49A871-2B8A-4423-AF59-958E45FE9BFF}"/>
              </a:ext>
            </a:extLst>
          </p:cNvPr>
          <p:cNvSpPr txBox="1"/>
          <p:nvPr/>
        </p:nvSpPr>
        <p:spPr>
          <a:xfrm>
            <a:off x="762000" y="1504950"/>
            <a:ext cx="59055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C1C1A"/>
                </a:solidFill>
                <a:latin typeface="Arial"/>
                <a:ea typeface="Arial"/>
              </a:rPr>
              <a:t>Skor berubah, harga ikut menyesuaikan.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CC840D-FCE1-456F-B99D-4768F9850DC0}"/>
              </a:ext>
            </a:extLst>
          </p:cNvPr>
          <p:cNvSpPr txBox="1"/>
          <p:nvPr/>
        </p:nvSpPr>
        <p:spPr>
          <a:xfrm>
            <a:off x="762000" y="3067050"/>
            <a:ext cx="381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9A25893-A232-48B4-AC40-494136159574}"/>
              </a:ext>
            </a:extLst>
          </p:cNvPr>
          <p:cNvSpPr txBox="1"/>
          <p:nvPr/>
        </p:nvSpPr>
        <p:spPr>
          <a:xfrm>
            <a:off x="1143000" y="30099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C1C1A"/>
                </a:solidFill>
                <a:latin typeface="Arial"/>
                <a:ea typeface="Arial"/>
              </a:rPr>
              <a:t>Hitung skor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A2E0C67-6B45-4020-AC9D-4B8662D5E82F}"/>
              </a:ext>
            </a:extLst>
          </p:cNvPr>
          <p:cNvSpPr txBox="1"/>
          <p:nvPr/>
        </p:nvSpPr>
        <p:spPr>
          <a:xfrm>
            <a:off x="1143000" y="331470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B6B63"/>
                </a:solidFill>
                <a:latin typeface="Arial"/>
                <a:ea typeface="Arial"/>
              </a:rPr>
              <a:t>Tanggal panen, suhu gudang, waktu simpan, dan waktu kirim.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D9F47BA-A656-4173-831F-C2B97F470E92}"/>
              </a:ext>
            </a:extLst>
          </p:cNvPr>
          <p:cNvSpPr txBox="1"/>
          <p:nvPr/>
        </p:nvSpPr>
        <p:spPr>
          <a:xfrm>
            <a:off x="762000" y="4114800"/>
            <a:ext cx="381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8CC3A79-2E34-4D87-9ED4-DC6241D285A5}"/>
              </a:ext>
            </a:extLst>
          </p:cNvPr>
          <p:cNvSpPr txBox="1"/>
          <p:nvPr/>
        </p:nvSpPr>
        <p:spPr>
          <a:xfrm>
            <a:off x="1143000" y="405765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C1C1A"/>
                </a:solidFill>
                <a:latin typeface="Arial"/>
                <a:ea typeface="Arial"/>
              </a:rPr>
              <a:t>Tentukan tahap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A2DE222-391F-4AFD-A0A7-4CD6C5F4FB76}"/>
              </a:ext>
            </a:extLst>
          </p:cNvPr>
          <p:cNvSpPr txBox="1"/>
          <p:nvPr/>
        </p:nvSpPr>
        <p:spPr>
          <a:xfrm>
            <a:off x="1143000" y="4362450"/>
            <a:ext cx="5334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B6B63"/>
                </a:solidFill>
                <a:latin typeface="Arial"/>
                <a:ea typeface="Arial"/>
              </a:rPr>
              <a:t>Ambang 70, 30, dan 10 memindahkan batch ke tahap berikutnya.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9D13DA1-EEE8-44B4-B2CD-C54658E42A19}"/>
              </a:ext>
            </a:extLst>
          </p:cNvPr>
          <p:cNvSpPr txBox="1"/>
          <p:nvPr/>
        </p:nvSpPr>
        <p:spPr>
          <a:xfrm>
            <a:off x="762000" y="5162550"/>
            <a:ext cx="381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4DCC81B-3BC3-4140-8DE4-18EF04A58CFC}"/>
              </a:ext>
            </a:extLst>
          </p:cNvPr>
          <p:cNvSpPr txBox="1"/>
          <p:nvPr/>
        </p:nvSpPr>
        <p:spPr>
          <a:xfrm>
            <a:off x="1143000" y="51054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700" b="1">
                <a:solidFill>
                  <a:srgbClr val="1C1C1A"/>
                </a:solidFill>
                <a:latin typeface="Arial"/>
                <a:ea typeface="Arial"/>
              </a:rPr>
              <a:t>Sesuaikan harga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4066152-2CF6-447E-8683-10D09CBEEE9E}"/>
              </a:ext>
            </a:extLst>
          </p:cNvPr>
          <p:cNvSpPr txBox="1"/>
          <p:nvPr/>
        </p:nvSpPr>
        <p:spPr>
          <a:xfrm>
            <a:off x="1143000" y="5410200"/>
            <a:ext cx="53340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6B63"/>
                </a:solidFill>
                <a:latin typeface="Arial"/>
                <a:ea typeface="Arial"/>
              </a:rPr>
              <a:t>Harga dan visibilitas berubah otomatis; pembeli melihat hasilnya.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2402580-A4B5-4B14-AD3E-F6AF3CD94076}"/>
              </a:ext>
            </a:extLst>
          </p:cNvPr>
          <p:cNvSpPr txBox="1"/>
          <p:nvPr/>
        </p:nvSpPr>
        <p:spPr>
          <a:xfrm>
            <a:off x="762000" y="615315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i="1">
                <a:solidFill>
                  <a:srgbClr val="6B6B63"/>
                </a:solidFill>
                <a:latin typeface="Arial"/>
                <a:ea typeface="Arial"/>
              </a:rPr>
              <a:t>Suhu masih diisi manual oleh gudang. Sensor IoT masuk roadmap.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28D3A6C4-76B3-47B1-9707-3668E4F6C1E6}"/>
              </a:ext>
            </a:extLst>
          </p:cNvPr>
          <p:cNvSpPr txBox="1"/>
          <p:nvPr/>
        </p:nvSpPr>
        <p:spPr>
          <a:xfrm>
            <a:off x="7162800" y="1714500"/>
            <a:ext cx="190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B6B63"/>
                </a:solidFill>
                <a:latin typeface="Arial"/>
                <a:ea typeface="Arial"/>
              </a:rPr>
              <a:t>INPUT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7A0E3A4-5945-4090-A3AC-B650DF86DEDB}"/>
              </a:ext>
            </a:extLst>
          </p:cNvPr>
          <p:cNvSpPr txBox="1"/>
          <p:nvPr/>
        </p:nvSpPr>
        <p:spPr>
          <a:xfrm>
            <a:off x="7353300" y="3581400"/>
            <a:ext cx="35814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1E5B3C"/>
                </a:solidFill>
                <a:latin typeface="Arial"/>
                <a:ea typeface="Arial"/>
              </a:rPr>
              <a:t>0–100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94BEB10-AE64-4C62-9E87-FAD5AB1EA86F}"/>
              </a:ext>
            </a:extLst>
          </p:cNvPr>
          <p:cNvSpPr txBox="1"/>
          <p:nvPr/>
        </p:nvSpPr>
        <p:spPr>
          <a:xfrm>
            <a:off x="7353300" y="4114800"/>
            <a:ext cx="35814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1E5B3C"/>
                </a:solidFill>
                <a:latin typeface="Arial"/>
                <a:ea typeface="Arial"/>
              </a:rPr>
              <a:t>Skor kesegaran, dihitung ulang setiap jam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23F9605-5244-4B55-9B9F-CB7C08A4A646}"/>
              </a:ext>
            </a:extLst>
          </p:cNvPr>
          <p:cNvSpPr txBox="1"/>
          <p:nvPr/>
        </p:nvSpPr>
        <p:spPr>
          <a:xfrm>
            <a:off x="7353300" y="5048250"/>
            <a:ext cx="35814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8A4B00"/>
                </a:solidFill>
                <a:latin typeface="Arial"/>
                <a:ea typeface="Arial"/>
              </a:rPr>
              <a:t>OUTPUT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9E22753-6F08-4600-8F1D-6DAD0B895F7B}"/>
              </a:ext>
            </a:extLst>
          </p:cNvPr>
          <p:cNvSpPr txBox="1"/>
          <p:nvPr/>
        </p:nvSpPr>
        <p:spPr>
          <a:xfrm>
            <a:off x="7353300" y="5238750"/>
            <a:ext cx="35814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1C1C1A"/>
                </a:solidFill>
                <a:latin typeface="Arial"/>
                <a:ea typeface="Arial"/>
              </a:rPr>
              <a:t>Tahap cascade + harga baru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F48BC57-42C5-4B61-9B37-D392B6253326}"/>
              </a:ext>
            </a:extLst>
          </p:cNvPr>
          <p:cNvSpPr txBox="1"/>
          <p:nvPr/>
        </p:nvSpPr>
        <p:spPr>
          <a:xfrm>
            <a:off x="10668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4536DD1-4696-4C32-BEC0-B645042E2FF0}"/>
              </a:ext>
            </a:extLst>
          </p:cNvPr>
          <p:cNvSpPr/>
          <p:nvPr/>
        </p:nvSpPr>
        <p:spPr>
          <a:xfrm>
            <a:off x="762000" y="2857500"/>
            <a:ext cx="33528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A8F87F9-0E61-4761-A84A-530DD32DEBBD}"/>
              </a:ext>
            </a:extLst>
          </p:cNvPr>
          <p:cNvSpPr/>
          <p:nvPr/>
        </p:nvSpPr>
        <p:spPr>
          <a:xfrm>
            <a:off x="4419600" y="2857500"/>
            <a:ext cx="33528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1278208-C8DC-461B-BD78-3271E8B4632D}"/>
              </a:ext>
            </a:extLst>
          </p:cNvPr>
          <p:cNvSpPr/>
          <p:nvPr/>
        </p:nvSpPr>
        <p:spPr>
          <a:xfrm>
            <a:off x="8077200" y="2857500"/>
            <a:ext cx="33528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5B31CBD-72DE-47CD-BB8E-4FA0A54C98CB}"/>
              </a:ext>
            </a:extLst>
          </p:cNvPr>
          <p:cNvSpPr/>
          <p:nvPr/>
        </p:nvSpPr>
        <p:spPr>
          <a:xfrm>
            <a:off x="1028700" y="3810000"/>
            <a:ext cx="1428750" cy="247650"/>
          </a:xfrm>
          <a:prstGeom prst="roundRect">
            <a:avLst/>
          </a:prstGeom>
          <a:solidFill>
            <a:srgbClr val="E8F1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050" b="1">
                <a:solidFill>
                  <a:srgbClr val="1E5B3C"/>
                </a:solidFill>
                <a:latin typeface="Arial"/>
                <a:ea typeface="Arial"/>
              </a:rPr>
              <a:t>/marketplace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6D31887-1797-4BC3-A540-4D555EC200DD}"/>
              </a:ext>
            </a:extLst>
          </p:cNvPr>
          <p:cNvSpPr/>
          <p:nvPr/>
        </p:nvSpPr>
        <p:spPr>
          <a:xfrm>
            <a:off x="4686300" y="3810000"/>
            <a:ext cx="952500" cy="247650"/>
          </a:xfrm>
          <a:prstGeom prst="roundRect">
            <a:avLst/>
          </a:prstGeom>
          <a:solidFill>
            <a:srgbClr val="E8F1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050" b="1">
                <a:solidFill>
                  <a:srgbClr val="1E5B3C"/>
                </a:solidFill>
                <a:latin typeface="Arial"/>
                <a:ea typeface="Arial"/>
              </a:rPr>
              <a:t>/cart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A0E668D-F3E4-4DEB-A5C6-FC7079F57C99}"/>
              </a:ext>
            </a:extLst>
          </p:cNvPr>
          <p:cNvSpPr/>
          <p:nvPr/>
        </p:nvSpPr>
        <p:spPr>
          <a:xfrm>
            <a:off x="8343900" y="3810000"/>
            <a:ext cx="1047750" cy="247650"/>
          </a:xfrm>
          <a:prstGeom prst="roundRect">
            <a:avLst/>
          </a:prstGeom>
          <a:solidFill>
            <a:srgbClr val="E8F1EB"/>
          </a:solidFill>
        </p:spPr>
        <p:txBody>
          <a:bodyPr wrap="square" rtlCol="0" lIns="0" tIns="0" rIns="0" bIns="0" anchor="ctr"/>
          <a:lstStyle/>
          <a:p>
            <a:pPr algn="ctr"/>
            <a:r>
              <a:rPr sz="1050" b="1">
                <a:solidFill>
                  <a:srgbClr val="1E5B3C"/>
                </a:solidFill>
                <a:latin typeface="Arial"/>
                <a:ea typeface="Arial"/>
              </a:rPr>
              <a:t>/orders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94A4A86-D396-4C09-9901-8A6325599CBA}"/>
              </a:ext>
            </a:extLst>
          </p:cNvPr>
          <p:cNvSpPr/>
          <p:nvPr/>
        </p:nvSpPr>
        <p:spPr>
          <a:xfrm>
            <a:off x="762000" y="5695950"/>
            <a:ext cx="10668000" cy="43815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26686C2-F2C9-413F-BF59-506F159D4FD0}"/>
              </a:ext>
            </a:extLst>
          </p:cNvPr>
          <p:cNvSpPr txBox="1"/>
          <p:nvPr/>
        </p:nvSpPr>
        <p:spPr>
          <a:xfrm>
            <a:off x="7620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8D5BF7E-BF5C-43B6-80BE-CF4A3582ADED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DEMO PEMBELI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FA71088-4A13-4FFE-9225-3F3EF7C4072A}"/>
              </a:ext>
            </a:extLst>
          </p:cNvPr>
          <p:cNvSpPr txBox="1"/>
          <p:nvPr/>
        </p:nvSpPr>
        <p:spPr>
          <a:xfrm>
            <a:off x="762000" y="1504950"/>
            <a:ext cx="10668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C1C1A"/>
                </a:solidFill>
                <a:latin typeface="Arial"/>
                <a:ea typeface="Arial"/>
              </a:rPr>
              <a:t>Dari katalog ke sertifikat dalam satu alur.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05E5DB-8A69-451C-B473-3431005D4516}"/>
              </a:ext>
            </a:extLst>
          </p:cNvPr>
          <p:cNvSpPr txBox="1"/>
          <p:nvPr/>
        </p:nvSpPr>
        <p:spPr>
          <a:xfrm>
            <a:off x="762000" y="2286000"/>
            <a:ext cx="7620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5554D"/>
                </a:solidFill>
                <a:latin typeface="Arial"/>
                <a:ea typeface="Arial"/>
              </a:rPr>
              <a:t>Alur pembeli yang bisa dicoba langsung di prototipe.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21A599-DE7C-46C9-AC13-3832381B8DC4}"/>
              </a:ext>
            </a:extLst>
          </p:cNvPr>
          <p:cNvSpPr txBox="1"/>
          <p:nvPr/>
        </p:nvSpPr>
        <p:spPr>
          <a:xfrm>
            <a:off x="1028700" y="3105150"/>
            <a:ext cx="571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45309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EDB59BD-86F5-42A0-A482-181FFD407959}"/>
              </a:ext>
            </a:extLst>
          </p:cNvPr>
          <p:cNvSpPr txBox="1"/>
          <p:nvPr/>
        </p:nvSpPr>
        <p:spPr>
          <a:xfrm>
            <a:off x="1028700" y="3371850"/>
            <a:ext cx="28194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1C1C1A"/>
                </a:solidFill>
                <a:latin typeface="Arial"/>
                <a:ea typeface="Arial"/>
              </a:rPr>
              <a:t>Pilih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09512C1-058F-452D-87F3-332CD1E106CA}"/>
              </a:ext>
            </a:extLst>
          </p:cNvPr>
          <p:cNvSpPr txBox="1"/>
          <p:nvPr/>
        </p:nvSpPr>
        <p:spPr>
          <a:xfrm>
            <a:off x="1028700" y="4229100"/>
            <a:ext cx="2819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Bandingkan bahan segar dan stok diskon dari satu katalog.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FA3ECAC-5DF3-4D7B-9670-DAA54D08F4D9}"/>
              </a:ext>
            </a:extLst>
          </p:cNvPr>
          <p:cNvSpPr txBox="1"/>
          <p:nvPr/>
        </p:nvSpPr>
        <p:spPr>
          <a:xfrm>
            <a:off x="1028700" y="5048250"/>
            <a:ext cx="28194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B6B63"/>
                </a:solidFill>
                <a:latin typeface="Arial"/>
                <a:ea typeface="Arial"/>
              </a:rPr>
              <a:t>Foto · harga · stok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70EB192-9E71-4BE8-B3E5-150C30342419}"/>
              </a:ext>
            </a:extLst>
          </p:cNvPr>
          <p:cNvSpPr txBox="1"/>
          <p:nvPr/>
        </p:nvSpPr>
        <p:spPr>
          <a:xfrm>
            <a:off x="4686300" y="3105150"/>
            <a:ext cx="571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45309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DC9BC15-6D49-48AB-9FAC-CE2FACB61174}"/>
              </a:ext>
            </a:extLst>
          </p:cNvPr>
          <p:cNvSpPr txBox="1"/>
          <p:nvPr/>
        </p:nvSpPr>
        <p:spPr>
          <a:xfrm>
            <a:off x="4686300" y="3371850"/>
            <a:ext cx="28194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1C1C1A"/>
                </a:solidFill>
                <a:latin typeface="Arial"/>
                <a:ea typeface="Arial"/>
              </a:rPr>
              <a:t>Bayar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86399A7-D095-4D1B-B1CF-6AA57FDBE857}"/>
              </a:ext>
            </a:extLst>
          </p:cNvPr>
          <p:cNvSpPr txBox="1"/>
          <p:nvPr/>
        </p:nvSpPr>
        <p:spPr>
          <a:xfrm>
            <a:off x="4686300" y="4229100"/>
            <a:ext cx="2819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Atur jumlah, alamat, dan metode kirim, lalu checkout.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3A82F57-B210-48F7-81DE-D8619F447AFA}"/>
              </a:ext>
            </a:extLst>
          </p:cNvPr>
          <p:cNvSpPr txBox="1"/>
          <p:nvPr/>
        </p:nvSpPr>
        <p:spPr>
          <a:xfrm>
            <a:off x="4686300" y="5048250"/>
            <a:ext cx="28194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>
                <a:solidFill>
                  <a:srgbClr val="6B6B63"/>
                </a:solidFill>
                <a:latin typeface="Arial"/>
                <a:ea typeface="Arial"/>
              </a:rPr>
              <a:t>Keranjang · checkout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D082556-539F-4A64-975C-A2E535C25378}"/>
              </a:ext>
            </a:extLst>
          </p:cNvPr>
          <p:cNvSpPr txBox="1"/>
          <p:nvPr/>
        </p:nvSpPr>
        <p:spPr>
          <a:xfrm>
            <a:off x="8343900" y="3105150"/>
            <a:ext cx="571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B45309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0B496CF1-553B-41CA-A3A2-8D7A54AA53C0}"/>
              </a:ext>
            </a:extLst>
          </p:cNvPr>
          <p:cNvSpPr txBox="1"/>
          <p:nvPr/>
        </p:nvSpPr>
        <p:spPr>
          <a:xfrm>
            <a:off x="8343900" y="3371850"/>
            <a:ext cx="2819400" cy="335280"/>
          </a:xfrm>
        </p:spPr>
        <p:txBody>
          <a:bodyPr wrap="square" rtlCol="0" lIns="0" tIns="0" rIns="0" bIns="0" anchor="t"/>
          <a:lstStyle/>
          <a:p>
            <a:pPr algn="l"/>
            <a:r>
              <a:rPr sz="2200" b="1">
                <a:solidFill>
                  <a:srgbClr val="1C1C1A"/>
                </a:solidFill>
                <a:latin typeface="Arial"/>
                <a:ea typeface="Arial"/>
              </a:rPr>
              <a:t>Buktikan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FEAE1C4-E23A-4771-B363-51E405237EB8}"/>
              </a:ext>
            </a:extLst>
          </p:cNvPr>
          <p:cNvSpPr txBox="1"/>
          <p:nvPr/>
        </p:nvSpPr>
        <p:spPr>
          <a:xfrm>
            <a:off x="8343900" y="4229100"/>
            <a:ext cx="2819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Lacak status pesanan dan unduh sertifikat dampak.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E4E941E-5305-4329-8DE2-0B062AF7226D}"/>
              </a:ext>
            </a:extLst>
          </p:cNvPr>
          <p:cNvSpPr txBox="1"/>
          <p:nvPr/>
        </p:nvSpPr>
        <p:spPr>
          <a:xfrm>
            <a:off x="8343900" y="5048250"/>
            <a:ext cx="28194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6B6B63"/>
                </a:solidFill>
                <a:latin typeface="Arial"/>
                <a:ea typeface="Arial"/>
              </a:rPr>
              <a:t>Status · /impact-certificate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568BA1E-A6E0-4FBA-AEE0-E4C43BC3D2D5}"/>
              </a:ext>
            </a:extLst>
          </p:cNvPr>
          <p:cNvSpPr txBox="1"/>
          <p:nvPr/>
        </p:nvSpPr>
        <p:spPr>
          <a:xfrm>
            <a:off x="1066800" y="5810250"/>
            <a:ext cx="10058400" cy="209550"/>
          </a:xfrm>
        </p:spPr>
        <p:txBody>
          <a:bodyPr wrap="square" rtlCol="0" lIns="0" tIns="0" rIns="0" bIns="0" anchor="ctr"/>
          <a:lstStyle/>
          <a:p>
            <a:pPr algn="l"/>
            <a:r>
              <a:rPr sz="1200" b="1">
                <a:solidFill>
                  <a:srgbClr val="8A4B00"/>
                </a:solidFill>
                <a:latin typeface="Arial"/>
                <a:ea typeface="Arial"/>
              </a:rPr>
              <a:t>Tampilan pembeli sengaja dibuat sederhana: tanpa istilah internal, tanpa skor kesegaran, tanpa hitung mundur.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0049C46-AC7B-48D7-BD1C-51A8F9BF191C}"/>
              </a:ext>
            </a:extLst>
          </p:cNvPr>
          <p:cNvSpPr txBox="1"/>
          <p:nvPr/>
        </p:nvSpPr>
        <p:spPr>
          <a:xfrm>
            <a:off x="10668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CFC5EC2-74AC-4886-90B7-D0AC49D631A6}"/>
              </a:ext>
            </a:extLst>
          </p:cNvPr>
          <p:cNvSpPr/>
          <p:nvPr/>
        </p:nvSpPr>
        <p:spPr>
          <a:xfrm>
            <a:off x="762000" y="2762250"/>
            <a:ext cx="52197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316F041-4A37-47D9-BA54-2953D070C65E}"/>
              </a:ext>
            </a:extLst>
          </p:cNvPr>
          <p:cNvSpPr/>
          <p:nvPr/>
        </p:nvSpPr>
        <p:spPr>
          <a:xfrm>
            <a:off x="6210300" y="2762250"/>
            <a:ext cx="52197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5355918-1F4A-4B8C-8715-0C7DE50B4865}"/>
              </a:ext>
            </a:extLst>
          </p:cNvPr>
          <p:cNvSpPr/>
          <p:nvPr/>
        </p:nvSpPr>
        <p:spPr>
          <a:xfrm>
            <a:off x="762000" y="5334000"/>
            <a:ext cx="10668000" cy="762000"/>
          </a:xfrm>
          <a:prstGeom prst="roundRect">
            <a:avLst/>
          </a:prstGeom>
          <a:solidFill>
            <a:srgbClr val="E8F1E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A6C8606-63A9-4ED3-92CB-376AD04EBCC9}"/>
              </a:ext>
            </a:extLst>
          </p:cNvPr>
          <p:cNvSpPr txBox="1"/>
          <p:nvPr/>
        </p:nvSpPr>
        <p:spPr>
          <a:xfrm>
            <a:off x="7620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A88D839-123A-4FA8-B482-E438E1218191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DEMO B2B &amp; GUDANG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83E56F6-7897-42EE-8135-36AD7C33D00C}"/>
              </a:ext>
            </a:extLst>
          </p:cNvPr>
          <p:cNvSpPr txBox="1"/>
          <p:nvPr/>
        </p:nvSpPr>
        <p:spPr>
          <a:xfrm>
            <a:off x="762000" y="1504950"/>
            <a:ext cx="10668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C1C1A"/>
                </a:solidFill>
                <a:latin typeface="Arial"/>
                <a:ea typeface="Arial"/>
              </a:rPr>
              <a:t>Satu data, tiga peran.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155A4FC-FC50-45DA-B6D4-908BD98C3412}"/>
              </a:ext>
            </a:extLst>
          </p:cNvPr>
          <p:cNvSpPr txBox="1"/>
          <p:nvPr/>
        </p:nvSpPr>
        <p:spPr>
          <a:xfrm>
            <a:off x="762000" y="2238375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5554D"/>
                </a:solidFill>
                <a:latin typeface="Arial"/>
                <a:ea typeface="Arial"/>
              </a:rPr>
              <a:t>Pembeli, gudang, dan admin bekerja dari batch yang sama.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A93B8FF-3286-41E1-8082-0BEF53F5A600}"/>
              </a:ext>
            </a:extLst>
          </p:cNvPr>
          <p:cNvSpPr txBox="1"/>
          <p:nvPr/>
        </p:nvSpPr>
        <p:spPr>
          <a:xfrm>
            <a:off x="1028700" y="3009900"/>
            <a:ext cx="2286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C1C1A"/>
                </a:solidFill>
                <a:latin typeface="Arial"/>
                <a:ea typeface="Arial"/>
              </a:rPr>
              <a:t>Bisnis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39EE225-0950-45C7-AE76-C6ADBAE6D3AB}"/>
              </a:ext>
            </a:extLst>
          </p:cNvPr>
          <p:cNvSpPr txBox="1"/>
          <p:nvPr/>
        </p:nvSpPr>
        <p:spPr>
          <a:xfrm>
            <a:off x="3619500" y="3048000"/>
            <a:ext cx="20955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6B6B63"/>
                </a:solidFill>
                <a:latin typeface="Arial"/>
                <a:ea typeface="Arial"/>
              </a:rPr>
              <a:t>BUSINESS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8A9D77F-C43D-4942-B4A3-C6D2FF9EB557}"/>
              </a:ext>
            </a:extLst>
          </p:cNvPr>
          <p:cNvSpPr txBox="1"/>
          <p:nvPr/>
        </p:nvSpPr>
        <p:spPr>
          <a:xfrm>
            <a:off x="1028700" y="3448050"/>
            <a:ext cx="4686300" cy="952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Pre-order grosir untuk restoran dan katering.</a:t>
            </a:r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Jadwal kirim dan invoice dalam satu pesanan.</a:t>
            </a:r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Sertifikat dampak untuk laporan ESG.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12C17D9-D59E-41FF-83A8-B30ED6ECFF82}"/>
              </a:ext>
            </a:extLst>
          </p:cNvPr>
          <p:cNvSpPr txBox="1"/>
          <p:nvPr/>
        </p:nvSpPr>
        <p:spPr>
          <a:xfrm>
            <a:off x="1028700" y="4762500"/>
            <a:ext cx="46863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1E5B3C"/>
                </a:solidFill>
                <a:latin typeface="Arial"/>
                <a:ea typeface="Arial"/>
              </a:rPr>
              <a:t>/marketplace/bulk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DD8C89C-31AD-41FE-B7BF-0E68B6254A1A}"/>
              </a:ext>
            </a:extLst>
          </p:cNvPr>
          <p:cNvSpPr txBox="1"/>
          <p:nvPr/>
        </p:nvSpPr>
        <p:spPr>
          <a:xfrm>
            <a:off x="6477000" y="3009900"/>
            <a:ext cx="2286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1C1C1A"/>
                </a:solidFill>
                <a:latin typeface="Arial"/>
                <a:ea typeface="Arial"/>
              </a:rPr>
              <a:t>Gudang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4436A08-2EDD-4080-9CC7-1D892DFA7540}"/>
              </a:ext>
            </a:extLst>
          </p:cNvPr>
          <p:cNvSpPr txBox="1"/>
          <p:nvPr/>
        </p:nvSpPr>
        <p:spPr>
          <a:xfrm>
            <a:off x="9067800" y="3048000"/>
            <a:ext cx="2095500" cy="17145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6B6B63"/>
                </a:solidFill>
                <a:latin typeface="Arial"/>
                <a:ea typeface="Arial"/>
              </a:rPr>
              <a:t>WAREHOUSE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14D2602-3114-46A0-8175-69C9D528CBF9}"/>
              </a:ext>
            </a:extLst>
          </p:cNvPr>
          <p:cNvSpPr txBox="1"/>
          <p:nvPr/>
        </p:nvSpPr>
        <p:spPr>
          <a:xfrm>
            <a:off x="6477000" y="3448050"/>
            <a:ext cx="4686300" cy="952500"/>
          </a:xfrm>
        </p:spPr>
        <p:txBody>
          <a:bodyPr wrap="square" rtlCol="0" lIns="0" tIns="0" rIns="0" bIns="0" anchor="t"/>
          <a:lstStyle/>
          <a:p>
            <a:pPr marL="228600" indent="-228600" algn="l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Catat batch, suhu, dan tanggal masuk.</a:t>
            </a:r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Pantau skor dan perpindahan tahap cascade.</a:t>
            </a:r>
          </a:p>
          <a:p>
            <a:pPr marL="228600" indent="-228600" algn="l">
              <a:lnSpc>
                <a:spcPct val="110000"/>
              </a:lnSpc>
              <a:spcAft>
                <a:spcPts val="600"/>
              </a:spcAft>
              <a:buChar char="•"/>
            </a:pPr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Konfirmasi pesanan dan siapkan pengiriman.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7F7C1AF-2D4C-4161-AA3A-4EEE1974DD9B}"/>
              </a:ext>
            </a:extLst>
          </p:cNvPr>
          <p:cNvSpPr txBox="1"/>
          <p:nvPr/>
        </p:nvSpPr>
        <p:spPr>
          <a:xfrm>
            <a:off x="6477000" y="4762500"/>
            <a:ext cx="46863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1E5B3C"/>
                </a:solidFill>
                <a:latin typeface="Arial"/>
                <a:ea typeface="Arial"/>
              </a:rPr>
              <a:t>/dashboard/batches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E2C9B4C-E6FD-4AEE-9ED4-6794BFDA1335}"/>
              </a:ext>
            </a:extLst>
          </p:cNvPr>
          <p:cNvSpPr txBox="1"/>
          <p:nvPr/>
        </p:nvSpPr>
        <p:spPr>
          <a:xfrm>
            <a:off x="1028700" y="5505450"/>
            <a:ext cx="2857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C1C1A"/>
                </a:solidFill>
                <a:latin typeface="Arial"/>
                <a:ea typeface="Arial"/>
              </a:rPr>
              <a:t>Admin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E264B6E-6EA6-4E7B-B21D-47D3595DA4D2}"/>
              </a:ext>
            </a:extLst>
          </p:cNvPr>
          <p:cNvSpPr txBox="1"/>
          <p:nvPr/>
        </p:nvSpPr>
        <p:spPr>
          <a:xfrm>
            <a:off x="1028700" y="577215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1E5B3C"/>
                </a:solidFill>
                <a:latin typeface="Arial"/>
                <a:ea typeface="Arial"/>
              </a:rPr>
              <a:t>Mengatur ambang batas, harga dasar, dan memantau cascade.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696F2D2-DAC9-40F7-B702-371C78FEB4D4}"/>
              </a:ext>
            </a:extLst>
          </p:cNvPr>
          <p:cNvSpPr txBox="1"/>
          <p:nvPr/>
        </p:nvSpPr>
        <p:spPr>
          <a:xfrm>
            <a:off x="8763000" y="5619750"/>
            <a:ext cx="24003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50" b="1">
                <a:solidFill>
                  <a:srgbClr val="1E5B3C"/>
                </a:solidFill>
                <a:latin typeface="Arial"/>
                <a:ea typeface="Arial"/>
              </a:rPr>
              <a:t>/dashboard/admin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90B7726-1514-4752-9EBE-6BC592745379}"/>
              </a:ext>
            </a:extLst>
          </p:cNvPr>
          <p:cNvSpPr txBox="1"/>
          <p:nvPr/>
        </p:nvSpPr>
        <p:spPr>
          <a:xfrm>
            <a:off x="10668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372AB27-59E4-4598-AB57-BEBA574ACDCC}"/>
              </a:ext>
            </a:extLst>
          </p:cNvPr>
          <p:cNvSpPr/>
          <p:nvPr/>
        </p:nvSpPr>
        <p:spPr>
          <a:xfrm>
            <a:off x="762000" y="2857500"/>
            <a:ext cx="249555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5ED39D2-32CE-465F-BCA9-C6E1BC89CBAE}"/>
              </a:ext>
            </a:extLst>
          </p:cNvPr>
          <p:cNvSpPr/>
          <p:nvPr/>
        </p:nvSpPr>
        <p:spPr>
          <a:xfrm>
            <a:off x="3486150" y="2857500"/>
            <a:ext cx="249555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98423E5-33F3-43AF-85B3-407312D93CCA}"/>
              </a:ext>
            </a:extLst>
          </p:cNvPr>
          <p:cNvSpPr/>
          <p:nvPr/>
        </p:nvSpPr>
        <p:spPr>
          <a:xfrm>
            <a:off x="6210300" y="2857500"/>
            <a:ext cx="249555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5A3149D-9218-4C43-BF9A-93B0881DDADF}"/>
              </a:ext>
            </a:extLst>
          </p:cNvPr>
          <p:cNvSpPr/>
          <p:nvPr/>
        </p:nvSpPr>
        <p:spPr>
          <a:xfrm>
            <a:off x="8934450" y="2857500"/>
            <a:ext cx="2495550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8D8F31A-7B55-4DDA-8B66-4A3C60BF7B3F}"/>
              </a:ext>
            </a:extLst>
          </p:cNvPr>
          <p:cNvSpPr/>
          <p:nvPr/>
        </p:nvSpPr>
        <p:spPr>
          <a:xfrm>
            <a:off x="762000" y="4838700"/>
            <a:ext cx="521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962CC20-5913-4055-863E-E784D556AE8D}"/>
              </a:ext>
            </a:extLst>
          </p:cNvPr>
          <p:cNvSpPr/>
          <p:nvPr/>
        </p:nvSpPr>
        <p:spPr>
          <a:xfrm>
            <a:off x="6210300" y="4838700"/>
            <a:ext cx="5219700" cy="1066800"/>
          </a:xfrm>
          <a:prstGeom prst="roundRect">
            <a:avLst/>
          </a:prstGeom>
          <a:solidFill>
            <a:srgbClr val="FFF1E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67D72B-5EC7-4625-ACCA-7E9652D03913}"/>
              </a:ext>
            </a:extLst>
          </p:cNvPr>
          <p:cNvSpPr txBox="1"/>
          <p:nvPr/>
        </p:nvSpPr>
        <p:spPr>
          <a:xfrm>
            <a:off x="7620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C26F410-90DE-4224-B860-AE6ED8CF2C8D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DAMPAK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832209-933F-4F8F-BC8A-71A4F7A45DD1}"/>
              </a:ext>
            </a:extLst>
          </p:cNvPr>
          <p:cNvSpPr txBox="1"/>
          <p:nvPr/>
        </p:nvSpPr>
        <p:spPr>
          <a:xfrm>
            <a:off x="762000" y="1504950"/>
            <a:ext cx="10668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1C1C1A"/>
                </a:solidFill>
                <a:latin typeface="Arial"/>
                <a:ea typeface="Arial"/>
              </a:rPr>
              <a:t>Setiap transaksi punya jejak yang bisa diukur.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CCFC0C7-4FE9-4AA5-B256-D803556A185B}"/>
              </a:ext>
            </a:extLst>
          </p:cNvPr>
          <p:cNvSpPr txBox="1"/>
          <p:nvPr/>
        </p:nvSpPr>
        <p:spPr>
          <a:xfrm>
            <a:off x="762000" y="22479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5554D"/>
                </a:solidFill>
                <a:latin typeface="Arial"/>
                <a:ea typeface="Arial"/>
              </a:rPr>
              <a:t>Empat angka dari ledger demo prototipe — bukan klaim traction.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2E2ECC-E9F2-48E3-868B-CCA70826CCE4}"/>
              </a:ext>
            </a:extLst>
          </p:cNvPr>
          <p:cNvSpPr txBox="1"/>
          <p:nvPr/>
        </p:nvSpPr>
        <p:spPr>
          <a:xfrm>
            <a:off x="990600" y="3105150"/>
            <a:ext cx="203835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1E5B3C"/>
                </a:solidFill>
                <a:latin typeface="Arial"/>
                <a:ea typeface="Arial"/>
              </a:rPr>
              <a:t>6 kg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C4CD2C3-39AC-49A3-91B5-2FDE0A6E1436}"/>
              </a:ext>
            </a:extLst>
          </p:cNvPr>
          <p:cNvSpPr txBox="1"/>
          <p:nvPr/>
        </p:nvSpPr>
        <p:spPr>
          <a:xfrm>
            <a:off x="990600" y="3752850"/>
            <a:ext cx="20383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bahan tidak terbuang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AEBD3BA-BFB6-4BB8-A035-3C6F78585A05}"/>
              </a:ext>
            </a:extLst>
          </p:cNvPr>
          <p:cNvSpPr txBox="1"/>
          <p:nvPr/>
        </p:nvSpPr>
        <p:spPr>
          <a:xfrm>
            <a:off x="990600" y="4171950"/>
            <a:ext cx="20383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B6B63"/>
                </a:solidFill>
                <a:latin typeface="Arial"/>
                <a:ea typeface="Arial"/>
              </a:rPr>
              <a:t>ledger demo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92DB21A-ED06-4D8C-BBDE-DF3E33FEFC02}"/>
              </a:ext>
            </a:extLst>
          </p:cNvPr>
          <p:cNvSpPr txBox="1"/>
          <p:nvPr/>
        </p:nvSpPr>
        <p:spPr>
          <a:xfrm>
            <a:off x="3714750" y="3105150"/>
            <a:ext cx="203835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1E5B3C"/>
                </a:solidFill>
                <a:latin typeface="Arial"/>
                <a:ea typeface="Arial"/>
              </a:rPr>
              <a:t>8,9 kg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F68DE01-9B07-4B8A-B605-0CECCD58BA25}"/>
              </a:ext>
            </a:extLst>
          </p:cNvPr>
          <p:cNvSpPr txBox="1"/>
          <p:nvPr/>
        </p:nvSpPr>
        <p:spPr>
          <a:xfrm>
            <a:off x="3714750" y="3752850"/>
            <a:ext cx="20383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CO₂e emisi dihindari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5A9CCA7-5C15-41CB-83E8-5810C364B338}"/>
              </a:ext>
            </a:extLst>
          </p:cNvPr>
          <p:cNvSpPr txBox="1"/>
          <p:nvPr/>
        </p:nvSpPr>
        <p:spPr>
          <a:xfrm>
            <a:off x="3714750" y="4171950"/>
            <a:ext cx="20383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B6B63"/>
                </a:solidFill>
                <a:latin typeface="Arial"/>
                <a:ea typeface="Arial"/>
              </a:rPr>
              <a:t>ledger demo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02A7899-7204-4BE3-8735-34B92B47EE1B}"/>
              </a:ext>
            </a:extLst>
          </p:cNvPr>
          <p:cNvSpPr txBox="1"/>
          <p:nvPr/>
        </p:nvSpPr>
        <p:spPr>
          <a:xfrm>
            <a:off x="6438900" y="3105150"/>
            <a:ext cx="203835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1E5B3C"/>
                </a:solidFill>
                <a:latin typeface="Arial"/>
                <a:ea typeface="Arial"/>
              </a:rPr>
              <a:t>1.420 L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0B22AC1-D7DF-468A-973E-09CD67B10041}"/>
              </a:ext>
            </a:extLst>
          </p:cNvPr>
          <p:cNvSpPr txBox="1"/>
          <p:nvPr/>
        </p:nvSpPr>
        <p:spPr>
          <a:xfrm>
            <a:off x="6438900" y="3752850"/>
            <a:ext cx="20383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air dihemat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9DF4457-7C0F-4E2D-8789-47DD171E47E8}"/>
              </a:ext>
            </a:extLst>
          </p:cNvPr>
          <p:cNvSpPr txBox="1"/>
          <p:nvPr/>
        </p:nvSpPr>
        <p:spPr>
          <a:xfrm>
            <a:off x="6438900" y="4171950"/>
            <a:ext cx="20383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B6B63"/>
                </a:solidFill>
                <a:latin typeface="Arial"/>
                <a:ea typeface="Arial"/>
              </a:rPr>
              <a:t>ledger demo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5A90292-FB65-4792-8946-0A13C72DD4AB}"/>
              </a:ext>
            </a:extLst>
          </p:cNvPr>
          <p:cNvSpPr txBox="1"/>
          <p:nvPr/>
        </p:nvSpPr>
        <p:spPr>
          <a:xfrm>
            <a:off x="9163050" y="3105150"/>
            <a:ext cx="203835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1E5B3C"/>
                </a:solidFill>
                <a:latin typeface="Arial"/>
                <a:ea typeface="Arial"/>
              </a:rPr>
              <a:t>90%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EA99E3F-2848-4A1C-8CEB-BCB6DDA2257D}"/>
              </a:ext>
            </a:extLst>
          </p:cNvPr>
          <p:cNvSpPr txBox="1"/>
          <p:nvPr/>
        </p:nvSpPr>
        <p:spPr>
          <a:xfrm>
            <a:off x="9163050" y="3752850"/>
            <a:ext cx="203835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55554D"/>
                </a:solidFill>
                <a:latin typeface="Arial"/>
                <a:ea typeface="Arial"/>
              </a:rPr>
              <a:t>waste diversion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23DE133-EEBB-4070-8023-8CD2B133A145}"/>
              </a:ext>
            </a:extLst>
          </p:cNvPr>
          <p:cNvSpPr txBox="1"/>
          <p:nvPr/>
        </p:nvSpPr>
        <p:spPr>
          <a:xfrm>
            <a:off x="9163050" y="4171950"/>
            <a:ext cx="203835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6B6B63"/>
                </a:solidFill>
                <a:latin typeface="Arial"/>
                <a:ea typeface="Arial"/>
              </a:rPr>
              <a:t>ledger demo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1D10506-1AE8-4F21-98E1-3FFCBEE32820}"/>
              </a:ext>
            </a:extLst>
          </p:cNvPr>
          <p:cNvSpPr txBox="1"/>
          <p:nvPr/>
        </p:nvSpPr>
        <p:spPr>
          <a:xfrm>
            <a:off x="1028700" y="5029200"/>
            <a:ext cx="46863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6B6B63"/>
                </a:solidFill>
                <a:latin typeface="Arial"/>
                <a:ea typeface="Arial"/>
              </a:rPr>
              <a:t>CARA HITUNG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2C427D5-AD06-4AB5-9AF4-C175495B6D9F}"/>
              </a:ext>
            </a:extLst>
          </p:cNvPr>
          <p:cNvSpPr txBox="1"/>
          <p:nvPr/>
        </p:nvSpPr>
        <p:spPr>
          <a:xfrm>
            <a:off x="1028700" y="5257800"/>
            <a:ext cx="46863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55554D"/>
                </a:solidFill>
                <a:latin typeface="Arial"/>
                <a:ea typeface="Arial"/>
              </a:rPr>
              <a:t>Berat batch × faktor emisi per komoditas. Faktor mengikuti jenis bahan.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8A48F97-774E-47DD-9ED6-10836884B367}"/>
              </a:ext>
            </a:extLst>
          </p:cNvPr>
          <p:cNvSpPr txBox="1"/>
          <p:nvPr/>
        </p:nvSpPr>
        <p:spPr>
          <a:xfrm>
            <a:off x="6477000" y="5029200"/>
            <a:ext cx="46863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8A4B00"/>
                </a:solidFill>
                <a:latin typeface="Arial"/>
                <a:ea typeface="Arial"/>
              </a:rPr>
              <a:t>STATUS ANGKA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08AFCC3-D508-47B4-BF28-EC531CE3A59C}"/>
              </a:ext>
            </a:extLst>
          </p:cNvPr>
          <p:cNvSpPr txBox="1"/>
          <p:nvPr/>
        </p:nvSpPr>
        <p:spPr>
          <a:xfrm>
            <a:off x="6477000" y="5257800"/>
            <a:ext cx="46863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>
                <a:solidFill>
                  <a:srgbClr val="8A4B00"/>
                </a:solidFill>
                <a:latin typeface="Arial"/>
                <a:ea typeface="Arial"/>
              </a:rPr>
              <a:t>Dihitung dari ledger demo. Verifikasi pihak ketiga masuk roadmap.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E5D128E8-0535-4B38-B03A-B029FA22EF6F}"/>
              </a:ext>
            </a:extLst>
          </p:cNvPr>
          <p:cNvSpPr txBox="1"/>
          <p:nvPr/>
        </p:nvSpPr>
        <p:spPr>
          <a:xfrm>
            <a:off x="10668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16242B7-FF69-4DF6-BA84-43CAB2AB9C0E}"/>
              </a:ext>
            </a:extLst>
          </p:cNvPr>
          <p:cNvSpPr/>
          <p:nvPr/>
        </p:nvSpPr>
        <p:spPr>
          <a:xfrm>
            <a:off x="762000" y="2762250"/>
            <a:ext cx="52197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ED7529C-9DD2-478F-914A-D67B3546DC18}"/>
              </a:ext>
            </a:extLst>
          </p:cNvPr>
          <p:cNvSpPr/>
          <p:nvPr/>
        </p:nvSpPr>
        <p:spPr>
          <a:xfrm>
            <a:off x="6210300" y="2762250"/>
            <a:ext cx="52197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2B4EF54-E0F4-4EE0-AB5D-54F4266B889B}"/>
              </a:ext>
            </a:extLst>
          </p:cNvPr>
          <p:cNvSpPr/>
          <p:nvPr/>
        </p:nvSpPr>
        <p:spPr>
          <a:xfrm>
            <a:off x="762000" y="4524375"/>
            <a:ext cx="52197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39B9049-CD1D-42B5-B870-184CDD322DDF}"/>
              </a:ext>
            </a:extLst>
          </p:cNvPr>
          <p:cNvSpPr/>
          <p:nvPr/>
        </p:nvSpPr>
        <p:spPr>
          <a:xfrm>
            <a:off x="6210300" y="4524375"/>
            <a:ext cx="5219700" cy="1571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0D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E628088-569B-4218-A281-73DD162C4BD9}"/>
              </a:ext>
            </a:extLst>
          </p:cNvPr>
          <p:cNvSpPr txBox="1"/>
          <p:nvPr/>
        </p:nvSpPr>
        <p:spPr>
          <a:xfrm>
            <a:off x="7620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1C1C1A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4B0580B-FD8C-41C5-B0FF-0364EB3C0079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B45309"/>
                </a:solidFill>
                <a:latin typeface="Arial"/>
                <a:ea typeface="Arial"/>
              </a:rPr>
              <a:t>TEKNOLOGI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02B4EC8-1F38-4425-8E40-24AAB6EE12EE}"/>
              </a:ext>
            </a:extLst>
          </p:cNvPr>
          <p:cNvSpPr txBox="1"/>
          <p:nvPr/>
        </p:nvSpPr>
        <p:spPr>
          <a:xfrm>
            <a:off x="762000" y="1504950"/>
            <a:ext cx="106680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C1C1A"/>
                </a:solidFill>
                <a:latin typeface="Arial"/>
                <a:ea typeface="Arial"/>
              </a:rPr>
              <a:t>Prototipe yang benar-benar berjalan.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68A8E84-A686-46FE-B9D4-57865E9FFF71}"/>
              </a:ext>
            </a:extLst>
          </p:cNvPr>
          <p:cNvSpPr txBox="1"/>
          <p:nvPr/>
        </p:nvSpPr>
        <p:spPr>
          <a:xfrm>
            <a:off x="762000" y="2247900"/>
            <a:ext cx="95250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55554D"/>
                </a:solidFill>
                <a:latin typeface="Arial"/>
                <a:ea typeface="Arial"/>
              </a:rPr>
              <a:t>Stack yang berjalan hari ini; Midtrans produksi dan WhatsApp menyusul.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10BA95B-CABA-4D52-938B-F63B77238D44}"/>
              </a:ext>
            </a:extLst>
          </p:cNvPr>
          <p:cNvSpPr txBox="1"/>
          <p:nvPr/>
        </p:nvSpPr>
        <p:spPr>
          <a:xfrm>
            <a:off x="1028700" y="2990850"/>
            <a:ext cx="46863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C1C1A"/>
                </a:solidFill>
                <a:latin typeface="Arial"/>
                <a:ea typeface="Arial"/>
              </a:rPr>
              <a:t>Aplikasi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A7994AD-9213-4F35-9200-CB074ABB3087}"/>
              </a:ext>
            </a:extLst>
          </p:cNvPr>
          <p:cNvSpPr txBox="1"/>
          <p:nvPr/>
        </p:nvSpPr>
        <p:spPr>
          <a:xfrm>
            <a:off x="1028700" y="3314700"/>
            <a:ext cx="46863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55554D"/>
                </a:solidFill>
                <a:latin typeface="Arial"/>
                <a:ea typeface="Arial"/>
              </a:rPr>
              <a:t>Next.js 16 App Router, React 19, TypeScript strict, dan Tailwind CSS v4.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E68D7C1-D30D-4F7D-8206-3261E93C4DFD}"/>
              </a:ext>
            </a:extLst>
          </p:cNvPr>
          <p:cNvSpPr txBox="1"/>
          <p:nvPr/>
        </p:nvSpPr>
        <p:spPr>
          <a:xfrm>
            <a:off x="1028700" y="3962400"/>
            <a:ext cx="46863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5309"/>
                </a:solidFill>
                <a:latin typeface="Arial"/>
                <a:ea typeface="Arial"/>
              </a:rPr>
              <a:t>Next.js 16 · React 19 · Tailwind v4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8A4DBC7-70D1-4C3D-9B85-F73DCECE255F}"/>
              </a:ext>
            </a:extLst>
          </p:cNvPr>
          <p:cNvSpPr txBox="1"/>
          <p:nvPr/>
        </p:nvSpPr>
        <p:spPr>
          <a:xfrm>
            <a:off x="6477000" y="2990850"/>
            <a:ext cx="46863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C1C1A"/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8C96D8B-BC04-4401-9EF1-516E00E8C540}"/>
              </a:ext>
            </a:extLst>
          </p:cNvPr>
          <p:cNvSpPr txBox="1"/>
          <p:nvPr/>
        </p:nvSpPr>
        <p:spPr>
          <a:xfrm>
            <a:off x="6477000" y="3314700"/>
            <a:ext cx="46863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55554D"/>
                </a:solidFill>
                <a:latin typeface="Arial"/>
                <a:ea typeface="Arial"/>
              </a:rPr>
              <a:t>PostgreSQL dengan Prisma ORM. Skema, migrasi, dan seed data berjalan.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5516C4B-9E19-4FD7-B741-5F74CF61C672}"/>
              </a:ext>
            </a:extLst>
          </p:cNvPr>
          <p:cNvSpPr txBox="1"/>
          <p:nvPr/>
        </p:nvSpPr>
        <p:spPr>
          <a:xfrm>
            <a:off x="6477000" y="3962400"/>
            <a:ext cx="46863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5309"/>
                </a:solidFill>
                <a:latin typeface="Arial"/>
                <a:ea typeface="Arial"/>
              </a:rPr>
              <a:t>PostgreSQL · Prisma · seed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8D6EA50-D2AF-4708-8AEA-33DD04E1FE55}"/>
              </a:ext>
            </a:extLst>
          </p:cNvPr>
          <p:cNvSpPr txBox="1"/>
          <p:nvPr/>
        </p:nvSpPr>
        <p:spPr>
          <a:xfrm>
            <a:off x="1028700" y="4752975"/>
            <a:ext cx="46863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C1C1A"/>
                </a:solidFill>
                <a:latin typeface="Arial"/>
                <a:ea typeface="Arial"/>
              </a:rPr>
              <a:t>Keamanan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6670880-31B5-46DB-BD4F-1436CF86D4CE}"/>
              </a:ext>
            </a:extLst>
          </p:cNvPr>
          <p:cNvSpPr txBox="1"/>
          <p:nvPr/>
        </p:nvSpPr>
        <p:spPr>
          <a:xfrm>
            <a:off x="1028700" y="5076825"/>
            <a:ext cx="46863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55554D"/>
                </a:solidFill>
                <a:latin typeface="Arial"/>
                <a:ea typeface="Arial"/>
              </a:rPr>
              <a:t>RBAC untuk 5 peran, session server-side, validasi Zod, dan server actions.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9E01020-44B5-4EB8-916A-A9889C3DC6C8}"/>
              </a:ext>
            </a:extLst>
          </p:cNvPr>
          <p:cNvSpPr txBox="1"/>
          <p:nvPr/>
        </p:nvSpPr>
        <p:spPr>
          <a:xfrm>
            <a:off x="1028700" y="5724525"/>
            <a:ext cx="46863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5309"/>
                </a:solidFill>
                <a:latin typeface="Arial"/>
                <a:ea typeface="Arial"/>
              </a:rPr>
              <a:t>5 peran · Zod · server actions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432F55B-03B8-4203-99FA-9B0ED4A4B9E9}"/>
              </a:ext>
            </a:extLst>
          </p:cNvPr>
          <p:cNvSpPr txBox="1"/>
          <p:nvPr/>
        </p:nvSpPr>
        <p:spPr>
          <a:xfrm>
            <a:off x="6477000" y="4752975"/>
            <a:ext cx="4686300" cy="27432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1C1C1A"/>
                </a:solidFill>
                <a:latin typeface="Arial"/>
                <a:ea typeface="Arial"/>
              </a:rPr>
              <a:t>Operasional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8EBABA0-0E30-4388-9BAA-F55197F1960F}"/>
              </a:ext>
            </a:extLst>
          </p:cNvPr>
          <p:cNvSpPr txBox="1"/>
          <p:nvPr/>
        </p:nvSpPr>
        <p:spPr>
          <a:xfrm>
            <a:off x="6477000" y="5076825"/>
            <a:ext cx="46863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55554D"/>
                </a:solidFill>
                <a:latin typeface="Arial"/>
                <a:ea typeface="Arial"/>
              </a:rPr>
              <a:t>Cron cascade tiap jam, sertifikat PDF, dan pipeline CI/CD.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B11B5C2-52E9-48AD-BABF-A1B9059EE1CF}"/>
              </a:ext>
            </a:extLst>
          </p:cNvPr>
          <p:cNvSpPr txBox="1"/>
          <p:nvPr/>
        </p:nvSpPr>
        <p:spPr>
          <a:xfrm>
            <a:off x="6477000" y="5724525"/>
            <a:ext cx="4686300" cy="17145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B45309"/>
                </a:solidFill>
                <a:latin typeface="Arial"/>
                <a:ea typeface="Arial"/>
              </a:rPr>
              <a:t>cron · PDF · CI/CD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6036626-9877-48BF-BC56-368681FF9DF3}"/>
              </a:ext>
            </a:extLst>
          </p:cNvPr>
          <p:cNvSpPr txBox="1"/>
          <p:nvPr/>
        </p:nvSpPr>
        <p:spPr>
          <a:xfrm>
            <a:off x="10668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r"/>
            <a:r>
              <a:rPr sz="1000">
                <a:solidFill>
                  <a:srgbClr val="6B6B63"/>
                </a:solidFill>
                <a:latin typeface="Arial"/>
                <a:ea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15C2D40-DC43-495C-A60C-B6A65E4A454D}"/>
              </a:ext>
            </a:extLst>
          </p:cNvPr>
          <p:cNvPicPr/>
          <p:nvPr/>
        </p:nvPicPr>
        <p:blipFill>
          <a:blip r:embed="rId2"/>
          <a:srcRect l="27786" r="27786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FDE4747-D77A-4C31-B325-974DC37C988D}"/>
              </a:ext>
            </a:extLst>
          </p:cNvPr>
          <p:cNvSpPr/>
          <p:nvPr/>
        </p:nvSpPr>
        <p:spPr>
          <a:xfrm>
            <a:off x="685800" y="5715000"/>
            <a:ext cx="4191000" cy="419100"/>
          </a:xfrm>
          <a:prstGeom prst="roundRect">
            <a:avLst/>
          </a:prstGeom>
          <a:solidFill>
            <a:srgbClr val="FF9900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14251B"/>
                </a:solidFill>
                <a:latin typeface="Arial"/>
                <a:ea typeface="Arial"/>
              </a:rPr>
              <a:t>Pilot: 1 gudang · 5 petani · 1 kota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0CAC8C3-96B6-4124-B559-9E4010BCB549}"/>
              </a:ext>
            </a:extLst>
          </p:cNvPr>
          <p:cNvSpPr/>
          <p:nvPr/>
        </p:nvSpPr>
        <p:spPr>
          <a:xfrm>
            <a:off x="685800" y="6438900"/>
            <a:ext cx="533400" cy="266700"/>
          </a:xfrm>
          <a:prstGeom prst="roundRect">
            <a:avLst/>
          </a:prstGeom>
          <a:solidFill>
            <a:srgbClr val="14251B">
              <a:alpha val="90196"/>
            </a:srgbClr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>
                <a:solidFill>
                  <a:srgbClr val="C9D6CD"/>
                </a:solidFill>
                <a:latin typeface="Arial"/>
                <a:ea typeface="Arial"/>
              </a:rPr>
              <a:t>09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C74F46A-C843-4543-8112-8A5ADDF9EDC6}"/>
              </a:ext>
            </a:extLst>
          </p:cNvPr>
          <p:cNvSpPr txBox="1"/>
          <p:nvPr/>
        </p:nvSpPr>
        <p:spPr>
          <a:xfrm>
            <a:off x="685800" y="419100"/>
            <a:ext cx="1714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 b="1">
                <a:solidFill>
                  <a:srgbClr val="F7F4EC"/>
                </a:solidFill>
                <a:latin typeface="Arial"/>
                <a:ea typeface="Arial"/>
              </a:rPr>
              <a:t>Vesta</a:t>
            </a:r>
            <a:r>
              <a:rPr sz="1300" b="1">
                <a:solidFill>
                  <a:srgbClr val="FF9900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9BF04DA-9F63-46F5-8C8D-A8BED32BB3B0}"/>
              </a:ext>
            </a:extLst>
          </p:cNvPr>
          <p:cNvSpPr txBox="1"/>
          <p:nvPr/>
        </p:nvSpPr>
        <p:spPr>
          <a:xfrm>
            <a:off x="685800" y="1219200"/>
            <a:ext cx="4762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B84D"/>
                </a:solidFill>
                <a:latin typeface="Arial"/>
                <a:ea typeface="Arial"/>
              </a:rPr>
              <a:t>MODEL BISNIS &amp; ROADMAP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EBC766-8EC5-4365-BFD9-C6D5B999659A}"/>
              </a:ext>
            </a:extLst>
          </p:cNvPr>
          <p:cNvSpPr txBox="1"/>
          <p:nvPr/>
        </p:nvSpPr>
        <p:spPr>
          <a:xfrm>
            <a:off x="685800" y="1524000"/>
            <a:ext cx="619125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7F4EC"/>
                </a:solidFill>
                <a:latin typeface="Arial"/>
                <a:ea typeface="Arial"/>
              </a:rPr>
              <a:t>Dari pilot ke infrastruktur.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19077A2-71F3-4D3A-BAB8-8E7399399FDB}"/>
              </a:ext>
            </a:extLst>
          </p:cNvPr>
          <p:cNvSpPr txBox="1"/>
          <p:nvPr/>
        </p:nvSpPr>
        <p:spPr>
          <a:xfrm>
            <a:off x="685800" y="314325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B84D"/>
                </a:solidFill>
                <a:latin typeface="Arial"/>
                <a:ea typeface="Arial"/>
              </a:rPr>
              <a:t>MODEL BISNIS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9604B3-B334-4518-B426-FD2F918E54E6}"/>
              </a:ext>
            </a:extLst>
          </p:cNvPr>
          <p:cNvSpPr txBox="1"/>
          <p:nvPr/>
        </p:nvSpPr>
        <p:spPr>
          <a:xfrm>
            <a:off x="685800" y="3390900"/>
            <a:ext cx="6096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>
                <a:solidFill>
                  <a:srgbClr val="F7F4EC"/>
                </a:solidFill>
                <a:latin typeface="Arial"/>
                <a:ea typeface="Arial"/>
              </a:rPr>
              <a:t>Margin transaksi · B2B pre-order · Sertifikat dampak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86E12C8-A5A4-476D-8FB8-9C4C3DA698D2}"/>
              </a:ext>
            </a:extLst>
          </p:cNvPr>
          <p:cNvSpPr txBox="1"/>
          <p:nvPr/>
        </p:nvSpPr>
        <p:spPr>
          <a:xfrm>
            <a:off x="685800" y="396240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FFB84D"/>
                </a:solidFill>
                <a:latin typeface="Arial"/>
                <a:ea typeface="Arial"/>
              </a:rPr>
              <a:t>ROADMAP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B2EAB9A-54C6-4766-B398-D6C298B03736}"/>
              </a:ext>
            </a:extLst>
          </p:cNvPr>
          <p:cNvSpPr txBox="1"/>
          <p:nvPr/>
        </p:nvSpPr>
        <p:spPr>
          <a:xfrm>
            <a:off x="685800" y="4191000"/>
            <a:ext cx="8763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FB84D"/>
                </a:solidFill>
                <a:latin typeface="Arial"/>
                <a:ea typeface="Arial"/>
              </a:rPr>
              <a:t>Sekarang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51080D2-CA01-4E07-B018-A0ED9379F638}"/>
              </a:ext>
            </a:extLst>
          </p:cNvPr>
          <p:cNvSpPr txBox="1"/>
          <p:nvPr/>
        </p:nvSpPr>
        <p:spPr>
          <a:xfrm>
            <a:off x="1657350" y="4152900"/>
            <a:ext cx="495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7F4EC"/>
                </a:solidFill>
                <a:latin typeface="Arial"/>
                <a:ea typeface="Arial"/>
              </a:rPr>
              <a:t>Marketplace, cascade, sertifikat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70D93DF-9886-4358-B593-EC3DD0308F47}"/>
              </a:ext>
            </a:extLst>
          </p:cNvPr>
          <p:cNvSpPr txBox="1"/>
          <p:nvPr/>
        </p:nvSpPr>
        <p:spPr>
          <a:xfrm>
            <a:off x="685800" y="4572000"/>
            <a:ext cx="8763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FB84D"/>
                </a:solidFill>
                <a:latin typeface="Arial"/>
                <a:ea typeface="Arial"/>
              </a:rPr>
              <a:t>Berikutnya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21923FB-AA00-42E2-AB7D-96464B3D5A35}"/>
              </a:ext>
            </a:extLst>
          </p:cNvPr>
          <p:cNvSpPr txBox="1"/>
          <p:nvPr/>
        </p:nvSpPr>
        <p:spPr>
          <a:xfrm>
            <a:off x="1657350" y="4533900"/>
            <a:ext cx="495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7F4EC"/>
                </a:solidFill>
                <a:latin typeface="Arial"/>
                <a:ea typeface="Arial"/>
              </a:rPr>
              <a:t>IoT dan pembayaran produksi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5975386-BB6B-4D1F-BC63-9681BB0B2051}"/>
              </a:ext>
            </a:extLst>
          </p:cNvPr>
          <p:cNvSpPr txBox="1"/>
          <p:nvPr/>
        </p:nvSpPr>
        <p:spPr>
          <a:xfrm>
            <a:off x="685800" y="4953000"/>
            <a:ext cx="8763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FFB84D"/>
                </a:solidFill>
                <a:latin typeface="Arial"/>
                <a:ea typeface="Arial"/>
              </a:rPr>
              <a:t>Nanti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D31511-9495-424A-A6B9-50543443B453}"/>
              </a:ext>
            </a:extLst>
          </p:cNvPr>
          <p:cNvSpPr txBox="1"/>
          <p:nvPr/>
        </p:nvSpPr>
        <p:spPr>
          <a:xfrm>
            <a:off x="1657350" y="4914900"/>
            <a:ext cx="4953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F7F4EC"/>
                </a:solidFill>
                <a:latin typeface="Arial"/>
                <a:ea typeface="Arial"/>
              </a:rPr>
              <a:t>Verifikasi pihak ketiga, mitra logistik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E63A681-A42A-4A64-A001-C624A850BE1B}"/>
              </a:ext>
            </a:extLst>
          </p:cNvPr>
          <p:cNvSpPr txBox="1"/>
          <p:nvPr/>
        </p:nvSpPr>
        <p:spPr>
          <a:xfrm>
            <a:off x="685800" y="6191250"/>
            <a:ext cx="5715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i="1">
                <a:solidFill>
                  <a:srgbClr val="C9D6CD"/>
                </a:solidFill>
                <a:latin typeface="Arial"/>
                <a:ea typeface="Arial"/>
              </a:rPr>
              <a:t>Target pilot, bukan klaim traction.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B25E19C-5E9F-459B-99F8-3501D95F5AD7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FF990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47EC41B-5F96-4005-A79D-702DD55E267C}"/>
              </a:ext>
            </a:extLst>
          </p:cNvPr>
          <p:cNvSpPr/>
          <p:nvPr/>
        </p:nvSpPr>
        <p:spPr>
          <a:xfrm>
            <a:off x="762000" y="4667250"/>
            <a:ext cx="4000500" cy="419100"/>
          </a:xfrm>
          <a:prstGeom prst="roundRect">
            <a:avLst/>
          </a:prstGeom>
          <a:solidFill>
            <a:srgbClr val="FF9900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14251B"/>
                </a:solidFill>
                <a:latin typeface="Arial"/>
                <a:ea typeface="Arial"/>
              </a:rPr>
              <a:t>Pilot: 1 gudang · 5 petani · 1 kota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E3B1248-BADA-43E3-B807-B06683D2D0E0}"/>
              </a:ext>
            </a:extLst>
          </p:cNvPr>
          <p:cNvSpPr txBox="1"/>
          <p:nvPr/>
        </p:nvSpPr>
        <p:spPr>
          <a:xfrm>
            <a:off x="762000" y="1219200"/>
            <a:ext cx="3810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00" b="1">
                <a:solidFill>
                  <a:srgbClr val="FFB84D"/>
                </a:solidFill>
                <a:latin typeface="Arial"/>
                <a:ea typeface="Arial"/>
              </a:rPr>
              <a:t>PENUTUP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57D913-4038-4198-B6E3-CC6DADEFE607}"/>
              </a:ext>
            </a:extLst>
          </p:cNvPr>
          <p:cNvSpPr txBox="1"/>
          <p:nvPr/>
        </p:nvSpPr>
        <p:spPr>
          <a:xfrm>
            <a:off x="762000" y="1666875"/>
            <a:ext cx="66675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>
                <a:solidFill>
                  <a:srgbClr val="F7F4EC"/>
                </a:solidFill>
                <a:latin typeface="Arial"/>
                <a:ea typeface="Arial"/>
              </a:rPr>
              <a:t>Jual sebelum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>
                <a:solidFill>
                  <a:srgbClr val="F7F4EC"/>
                </a:solidFill>
                <a:latin typeface="Arial"/>
                <a:ea typeface="Arial"/>
              </a:rPr>
              <a:t>terbuang.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A54E460-83DB-4F84-A1B9-271F0E8383D1}"/>
              </a:ext>
            </a:extLst>
          </p:cNvPr>
          <p:cNvSpPr txBox="1"/>
          <p:nvPr/>
        </p:nvSpPr>
        <p:spPr>
          <a:xfrm>
            <a:off x="762000" y="3714750"/>
            <a:ext cx="66675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</a:pPr>
            <a:r>
              <a:rPr sz="1600">
                <a:solidFill>
                  <a:srgbClr val="C9D6CD"/>
                </a:solidFill>
                <a:latin typeface="Arial"/>
                <a:ea typeface="Arial"/>
              </a:rPr>
              <a:t>Vesta — infrastruktur agar makanan tidak terbuang sebelum waktunya.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E8F0A02-6A2A-42D7-ACDB-09A121B0A919}"/>
              </a:ext>
            </a:extLst>
          </p:cNvPr>
          <p:cNvSpPr txBox="1"/>
          <p:nvPr/>
        </p:nvSpPr>
        <p:spPr>
          <a:xfrm>
            <a:off x="762000" y="5410200"/>
            <a:ext cx="3810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7F4EC"/>
                </a:solidFill>
                <a:latin typeface="Arial"/>
                <a:ea typeface="Arial"/>
              </a:rPr>
              <a:t>Terima kasih.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6B4530B-3BDF-4574-8B91-D994987132BD}"/>
              </a:ext>
            </a:extLst>
          </p:cNvPr>
          <p:cNvSpPr txBox="1"/>
          <p:nvPr/>
        </p:nvSpPr>
        <p:spPr>
          <a:xfrm>
            <a:off x="762000" y="5791200"/>
            <a:ext cx="5334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C9D6CD"/>
                </a:solidFill>
                <a:latin typeface="Arial"/>
                <a:ea typeface="Arial"/>
              </a:rPr>
              <a:t>Tim Vesta · UNIC Web Development 2026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AE318FF-1E22-4B0D-BA5B-F740B4690CA9}"/>
              </a:ext>
            </a:extLst>
          </p:cNvPr>
          <p:cNvSpPr txBox="1"/>
          <p:nvPr/>
        </p:nvSpPr>
        <p:spPr>
          <a:xfrm>
            <a:off x="762000" y="6419850"/>
            <a:ext cx="762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8FA396"/>
                </a:solidFill>
                <a:latin typeface="Arial"/>
                <a:ea typeface="Arial"/>
              </a:rPr>
              <a:t>10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E9AF138-4B06-495F-992C-D352C5FBC8AD}"/>
              </a:ext>
            </a:extLst>
          </p:cNvPr>
          <p:cNvSpPr txBox="1"/>
          <p:nvPr/>
        </p:nvSpPr>
        <p:spPr>
          <a:xfrm>
            <a:off x="8763000" y="723900"/>
            <a:ext cx="3048000" cy="609600"/>
          </a:xfrm>
        </p:spPr>
        <p:txBody>
          <a:bodyPr wrap="square" rtlCol="0" lIns="0" tIns="0" rIns="0" bIns="0" anchor="t"/>
          <a:lstStyle/>
          <a:p>
            <a:pPr algn="l"/>
            <a:r>
              <a:rPr sz="4000" b="1">
                <a:solidFill>
                  <a:srgbClr val="14251B"/>
                </a:solidFill>
                <a:latin typeface="Arial"/>
                <a:ea typeface="Arial"/>
              </a:rPr>
              <a:t>Vesta</a:t>
            </a:r>
            <a:r>
              <a:rPr sz="4000" b="1">
                <a:solidFill>
                  <a:srgbClr val="14251B"/>
                </a:solidFill>
                <a:latin typeface="Arial"/>
                <a:ea typeface="Arial"/>
              </a:rPr>
              <a:t>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F3DC36D-99A8-4846-BF29-DCA25B0A6A2E}"/>
              </a:ext>
            </a:extLst>
          </p:cNvPr>
          <p:cNvSpPr txBox="1"/>
          <p:nvPr/>
        </p:nvSpPr>
        <p:spPr>
          <a:xfrm>
            <a:off x="8763000" y="133350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14251B"/>
                </a:solidFill>
                <a:latin typeface="Arial"/>
                <a:ea typeface="Arial"/>
              </a:rPr>
              <a:t>Pasar bahan segar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B045369-3F5F-46E5-AD30-EB7E4ABBC092}"/>
              </a:ext>
            </a:extLst>
          </p:cNvPr>
          <p:cNvSpPr txBox="1"/>
          <p:nvPr/>
        </p:nvSpPr>
        <p:spPr>
          <a:xfrm>
            <a:off x="8763000" y="605790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950" b="1">
                <a:solidFill>
                  <a:srgbClr val="14251B"/>
                </a:solidFill>
                <a:latin typeface="Arial"/>
                <a:ea typeface="Arial"/>
              </a:rPr>
              <a:t>FRESHNESS CASCADE PLATFORM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853D2E4-4548-40F8-8A0A-589B63050E31}"/>
              </a:ext>
            </a:extLst>
          </p:cNvPr>
          <p:cNvSpPr txBox="1"/>
          <p:nvPr/>
        </p:nvSpPr>
        <p:spPr>
          <a:xfrm>
            <a:off x="8763000" y="6286500"/>
            <a:ext cx="30480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14251B"/>
                </a:solidFill>
                <a:latin typeface="Arial"/>
                <a:ea typeface="Arial"/>
              </a:rPr>
              <a:t>Prototipe fungsional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